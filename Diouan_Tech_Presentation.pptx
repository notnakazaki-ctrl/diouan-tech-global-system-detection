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sldSz cx="12188825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78" d="100"/>
          <a:sy n="78" d="100"/>
        </p:scale>
        <p:origin x="850" y="5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3/29/2026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3/29/2026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3/29/2026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3/29/2026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1645920"/>
          </a:xfrm>
          <a:prstGeom prst="rect">
            <a:avLst/>
          </a:prstGeom>
          <a:solidFill>
            <a:srgbClr val="1A527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9728"/>
          </a:xfrm>
          <a:prstGeom prst="rect">
            <a:avLst/>
          </a:prstGeom>
          <a:solidFill>
            <a:srgbClr val="2196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57200" y="228600"/>
            <a:ext cx="1124712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1" dirty="0">
                <a:solidFill>
                  <a:srgbClr val="CCCCCC"/>
                </a:solidFill>
              </a:rPr>
              <a:t>PROJET DE F</a:t>
            </a:r>
            <a:r>
              <a:rPr lang="en-US" sz="1400" b="0" i="1" dirty="0">
                <a:solidFill>
                  <a:srgbClr val="CCCCCC"/>
                </a:solidFill>
              </a:rPr>
              <a:t>il Rouge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112471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1" i="0">
                <a:solidFill>
                  <a:srgbClr val="FFFFFF"/>
                </a:solidFill>
              </a:rPr>
              <a:t>Système Intelligent de Détection de Fraude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143000"/>
            <a:ext cx="112471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1" i="0">
                <a:solidFill>
                  <a:srgbClr val="FFFFFF"/>
                </a:solidFill>
              </a:rPr>
              <a:t>et de Valorisation Douanière</a:t>
            </a:r>
          </a:p>
        </p:txBody>
      </p:sp>
      <p:sp>
        <p:nvSpPr>
          <p:cNvPr id="7" name="Rectangle 6"/>
          <p:cNvSpPr/>
          <p:nvPr/>
        </p:nvSpPr>
        <p:spPr>
          <a:xfrm>
            <a:off x="3200400" y="1874519"/>
            <a:ext cx="5760720" cy="45720"/>
          </a:xfrm>
          <a:prstGeom prst="rect">
            <a:avLst/>
          </a:prstGeom>
          <a:solidFill>
            <a:srgbClr val="2196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457200" y="2011680"/>
            <a:ext cx="11247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 i="1">
                <a:solidFill>
                  <a:srgbClr val="CCCCCC"/>
                </a:solidFill>
              </a:rPr>
              <a:t>Auto &amp; Tech — Dashboard d'Analyse des Déclarations</a:t>
            </a:r>
          </a:p>
        </p:txBody>
      </p:sp>
      <p:sp>
        <p:nvSpPr>
          <p:cNvPr id="9" name="Rectangle 8"/>
          <p:cNvSpPr/>
          <p:nvPr/>
        </p:nvSpPr>
        <p:spPr>
          <a:xfrm>
            <a:off x="1371600" y="2834640"/>
            <a:ext cx="2926080" cy="868680"/>
          </a:xfrm>
          <a:prstGeom prst="rect">
            <a:avLst/>
          </a:prstGeom>
          <a:solidFill>
            <a:srgbClr val="16213E"/>
          </a:solidFill>
          <a:ln w="12700">
            <a:solidFill>
              <a:srgbClr val="2196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1371600" y="2880360"/>
            <a:ext cx="2926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1">
                <a:solidFill>
                  <a:srgbClr val="CCCCCC"/>
                </a:solidFill>
              </a:rPr>
              <a:t>Réalisé par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71600" y="3154680"/>
            <a:ext cx="29260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Mohammed Amine HAMOUTTI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663440" y="2834640"/>
            <a:ext cx="2926080" cy="868680"/>
          </a:xfrm>
          <a:prstGeom prst="rect">
            <a:avLst/>
          </a:prstGeom>
          <a:solidFill>
            <a:srgbClr val="16213E"/>
          </a:solidFill>
          <a:ln w="12700">
            <a:solidFill>
              <a:srgbClr val="2196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4663440" y="2880360"/>
            <a:ext cx="2926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1">
                <a:solidFill>
                  <a:srgbClr val="CCCCCC"/>
                </a:solidFill>
              </a:rPr>
              <a:t>Encadré par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663440" y="3154680"/>
            <a:ext cx="29260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Yassine AMMAMI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955279" y="2834640"/>
            <a:ext cx="2926080" cy="868680"/>
          </a:xfrm>
          <a:prstGeom prst="rect">
            <a:avLst/>
          </a:prstGeom>
          <a:solidFill>
            <a:srgbClr val="16213E"/>
          </a:solidFill>
          <a:ln w="12700">
            <a:solidFill>
              <a:srgbClr val="2196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7955279" y="2880360"/>
            <a:ext cx="2926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1">
                <a:solidFill>
                  <a:srgbClr val="CCCCCC"/>
                </a:solidFill>
              </a:rPr>
              <a:t>Année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955279" y="3154680"/>
            <a:ext cx="29260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2026</a:t>
            </a:r>
          </a:p>
        </p:txBody>
      </p:sp>
      <p:sp>
        <p:nvSpPr>
          <p:cNvPr id="18" name="Rectangle 17"/>
          <p:cNvSpPr/>
          <p:nvPr/>
        </p:nvSpPr>
        <p:spPr>
          <a:xfrm>
            <a:off x="1828800" y="3977639"/>
            <a:ext cx="2560320" cy="502920"/>
          </a:xfrm>
          <a:prstGeom prst="rect">
            <a:avLst/>
          </a:prstGeom>
          <a:solidFill>
            <a:srgbClr val="1A5276"/>
          </a:solidFill>
          <a:ln w="12700">
            <a:solidFill>
              <a:srgbClr val="2196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1828800" y="4005072"/>
            <a:ext cx="2560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</a:rPr>
              <a:t>📱 Smartphones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846320" y="3977639"/>
            <a:ext cx="2560320" cy="502920"/>
          </a:xfrm>
          <a:prstGeom prst="rect">
            <a:avLst/>
          </a:prstGeom>
          <a:solidFill>
            <a:srgbClr val="1A5276"/>
          </a:solidFill>
          <a:ln w="12700">
            <a:solidFill>
              <a:srgbClr val="2196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4846320" y="4005072"/>
            <a:ext cx="2560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</a:rPr>
              <a:t>🚗 Véhicules</a:t>
            </a:r>
          </a:p>
        </p:txBody>
      </p:sp>
      <p:sp>
        <p:nvSpPr>
          <p:cNvPr id="22" name="Rectangle 21"/>
          <p:cNvSpPr/>
          <p:nvPr/>
        </p:nvSpPr>
        <p:spPr>
          <a:xfrm>
            <a:off x="7863840" y="3977639"/>
            <a:ext cx="2560320" cy="502920"/>
          </a:xfrm>
          <a:prstGeom prst="rect">
            <a:avLst/>
          </a:prstGeom>
          <a:solidFill>
            <a:srgbClr val="1A5276"/>
          </a:solidFill>
          <a:ln w="12700">
            <a:solidFill>
              <a:srgbClr val="2196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7863840" y="4005072"/>
            <a:ext cx="2560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</a:rPr>
              <a:t>💻 Laptops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57200" y="4663440"/>
            <a:ext cx="11247120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000" i="1" dirty="0" err="1">
                <a:solidFill>
                  <a:srgbClr val="CCCCCC"/>
                </a:solidFill>
              </a:rPr>
              <a:t>Github</a:t>
            </a:r>
            <a:r>
              <a:rPr lang="en-US" sz="1000" i="1" dirty="0">
                <a:solidFill>
                  <a:srgbClr val="CCCCCC"/>
                </a:solidFill>
              </a:rPr>
              <a:t> : </a:t>
            </a:r>
            <a:r>
              <a:rPr sz="1000" b="0" i="1" dirty="0">
                <a:solidFill>
                  <a:srgbClr val="CCCCCC"/>
                </a:solidFill>
              </a:rPr>
              <a:t>github.com/</a:t>
            </a:r>
            <a:r>
              <a:rPr sz="1000" b="0" i="1" dirty="0" err="1">
                <a:solidFill>
                  <a:srgbClr val="CCCCCC"/>
                </a:solidFill>
              </a:rPr>
              <a:t>notNAKAZAKi</a:t>
            </a:r>
            <a:r>
              <a:rPr sz="1000" b="0" i="1" dirty="0">
                <a:solidFill>
                  <a:srgbClr val="CCCCCC"/>
                </a:solidFill>
              </a:rPr>
              <a:t>-ctrl/</a:t>
            </a:r>
            <a:r>
              <a:rPr sz="1000" b="0" i="1" dirty="0" err="1">
                <a:solidFill>
                  <a:srgbClr val="CCCCCC"/>
                </a:solidFill>
              </a:rPr>
              <a:t>Diouan</a:t>
            </a:r>
            <a:r>
              <a:rPr sz="1000" b="0" i="1" dirty="0">
                <a:solidFill>
                  <a:srgbClr val="CCCCCC"/>
                </a:solidFill>
              </a:rPr>
              <a:t>-Tech-Global-System-Detection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2196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365760" y="13716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Plan de la Présentation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365760" y="960120"/>
            <a:ext cx="11430000" cy="27432"/>
          </a:xfrm>
          <a:prstGeom prst="rect">
            <a:avLst/>
          </a:prstGeom>
          <a:solidFill>
            <a:srgbClr val="2196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365760" y="1188720"/>
            <a:ext cx="5577840" cy="1005840"/>
          </a:xfrm>
          <a:prstGeom prst="rect">
            <a:avLst/>
          </a:prstGeom>
          <a:solidFill>
            <a:srgbClr val="16213E"/>
          </a:solidFill>
          <a:ln w="12700">
            <a:solidFill>
              <a:srgbClr val="2196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457200" y="1234440"/>
            <a:ext cx="731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2196F3"/>
                </a:solidFill>
              </a:rPr>
              <a:t>01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43000" y="1234440"/>
            <a:ext cx="4572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</a:rPr>
              <a:t>Contexte &amp; Problématique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43000" y="164592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CCCCCC"/>
                </a:solidFill>
              </a:rPr>
              <a:t>L'enjeu du contrôle douanier marocain</a:t>
            </a:r>
          </a:p>
        </p:txBody>
      </p:sp>
      <p:sp>
        <p:nvSpPr>
          <p:cNvPr id="9" name="Rectangle 8"/>
          <p:cNvSpPr/>
          <p:nvPr/>
        </p:nvSpPr>
        <p:spPr>
          <a:xfrm>
            <a:off x="365760" y="2468880"/>
            <a:ext cx="5577840" cy="1005840"/>
          </a:xfrm>
          <a:prstGeom prst="rect">
            <a:avLst/>
          </a:prstGeom>
          <a:solidFill>
            <a:srgbClr val="16213E"/>
          </a:solidFill>
          <a:ln w="12700">
            <a:solidFill>
              <a:srgbClr val="2196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457200" y="2514600"/>
            <a:ext cx="731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2196F3"/>
                </a:solidFill>
              </a:rPr>
              <a:t>02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43000" y="2514600"/>
            <a:ext cx="4572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</a:rPr>
              <a:t>Solution Proposée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43000" y="292608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CCCCCC"/>
                </a:solidFill>
              </a:rPr>
              <a:t>Architecture Diouan-Tech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65760" y="3749039"/>
            <a:ext cx="5577840" cy="1005840"/>
          </a:xfrm>
          <a:prstGeom prst="rect">
            <a:avLst/>
          </a:prstGeom>
          <a:solidFill>
            <a:srgbClr val="16213E"/>
          </a:solidFill>
          <a:ln w="12700">
            <a:solidFill>
              <a:srgbClr val="2196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457200" y="3794759"/>
            <a:ext cx="731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2196F3"/>
                </a:solidFill>
              </a:rPr>
              <a:t>03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43000" y="3794759"/>
            <a:ext cx="4572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</a:rPr>
              <a:t>Pipeline de Données (ETL)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43000" y="420624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CCCCCC"/>
                </a:solidFill>
              </a:rPr>
              <a:t>Scraping → Nettoyage → Simulation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65760" y="5029199"/>
            <a:ext cx="5577840" cy="1005840"/>
          </a:xfrm>
          <a:prstGeom prst="rect">
            <a:avLst/>
          </a:prstGeom>
          <a:solidFill>
            <a:srgbClr val="16213E"/>
          </a:solidFill>
          <a:ln w="12700">
            <a:solidFill>
              <a:srgbClr val="2196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457200" y="5074919"/>
            <a:ext cx="731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2196F3"/>
                </a:solidFill>
              </a:rPr>
              <a:t>04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43000" y="5074919"/>
            <a:ext cx="4572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</a:rPr>
              <a:t>Modélisation Machine Learning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43000" y="5486399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CCCCCC"/>
                </a:solidFill>
              </a:rPr>
              <a:t>Random Forest &amp; XGBoost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309360" y="1188720"/>
            <a:ext cx="5577840" cy="1005840"/>
          </a:xfrm>
          <a:prstGeom prst="rect">
            <a:avLst/>
          </a:prstGeom>
          <a:solidFill>
            <a:srgbClr val="16213E"/>
          </a:solidFill>
          <a:ln w="12700">
            <a:solidFill>
              <a:srgbClr val="2196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6400800" y="1234440"/>
            <a:ext cx="731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2196F3"/>
                </a:solidFill>
              </a:rPr>
              <a:t>05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086600" y="1234440"/>
            <a:ext cx="4572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</a:rPr>
              <a:t>Système de Scoring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086600" y="164592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CCCCCC"/>
                </a:solidFill>
              </a:rPr>
              <a:t>Niveaux de risque &amp; détection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309360" y="2468880"/>
            <a:ext cx="5577840" cy="1005840"/>
          </a:xfrm>
          <a:prstGeom prst="rect">
            <a:avLst/>
          </a:prstGeom>
          <a:solidFill>
            <a:srgbClr val="16213E"/>
          </a:solidFill>
          <a:ln w="12700">
            <a:solidFill>
              <a:srgbClr val="2196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6400800" y="2514600"/>
            <a:ext cx="731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2196F3"/>
                </a:solidFill>
              </a:rPr>
              <a:t>06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086600" y="2514600"/>
            <a:ext cx="4572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</a:rPr>
              <a:t>Dashboard Power BI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086600" y="292608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CCCCCC"/>
                </a:solidFill>
              </a:rPr>
              <a:t>3 modules interactifs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309360" y="3749039"/>
            <a:ext cx="5577840" cy="1005840"/>
          </a:xfrm>
          <a:prstGeom prst="rect">
            <a:avLst/>
          </a:prstGeom>
          <a:solidFill>
            <a:srgbClr val="16213E"/>
          </a:solidFill>
          <a:ln w="12700">
            <a:solidFill>
              <a:srgbClr val="2196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6400800" y="3794759"/>
            <a:ext cx="731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2196F3"/>
                </a:solidFill>
              </a:rPr>
              <a:t>07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086600" y="3794759"/>
            <a:ext cx="4572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</a:rPr>
              <a:t>Résultats &amp; Performances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086600" y="420624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CCCCCC"/>
                </a:solidFill>
              </a:rPr>
              <a:t>Métriques &amp; observations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309360" y="5029199"/>
            <a:ext cx="5577840" cy="1005840"/>
          </a:xfrm>
          <a:prstGeom prst="rect">
            <a:avLst/>
          </a:prstGeom>
          <a:solidFill>
            <a:srgbClr val="16213E"/>
          </a:solidFill>
          <a:ln w="12700">
            <a:solidFill>
              <a:srgbClr val="2196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6400800" y="5074919"/>
            <a:ext cx="731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2196F3"/>
                </a:solidFill>
              </a:rPr>
              <a:t>08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086600" y="5074919"/>
            <a:ext cx="4572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</a:rPr>
              <a:t>Conclusion &amp; Perspectives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086600" y="5486399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CCCCCC"/>
                </a:solidFill>
              </a:rPr>
              <a:t>Limites et évolutions futures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2196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365760" y="13716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Contexte &amp; Problématique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58368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1">
                <a:solidFill>
                  <a:srgbClr val="CCCCCC"/>
                </a:solidFill>
              </a:rPr>
              <a:t>L'enjeu du contrôle douanier marocain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960120"/>
            <a:ext cx="11430000" cy="27432"/>
          </a:xfrm>
          <a:prstGeom prst="rect">
            <a:avLst/>
          </a:prstGeom>
          <a:solidFill>
            <a:srgbClr val="2196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365760" y="1143000"/>
            <a:ext cx="5303520" cy="5029200"/>
          </a:xfrm>
          <a:prstGeom prst="rect">
            <a:avLst/>
          </a:prstGeom>
          <a:solidFill>
            <a:srgbClr val="16213E"/>
          </a:solidFill>
          <a:ln w="12700">
            <a:solidFill>
              <a:srgbClr val="2196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548640" y="1234440"/>
            <a:ext cx="49377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2196F3"/>
                </a:solidFill>
              </a:rPr>
              <a:t>Le Problème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2182615"/>
            <a:ext cx="50292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0" i="0" dirty="0">
                <a:solidFill>
                  <a:srgbClr val="FFFFFF"/>
                </a:solidFill>
              </a:rPr>
              <a:t>▸  Les </a:t>
            </a:r>
            <a:r>
              <a:rPr b="0" i="0" dirty="0" err="1">
                <a:solidFill>
                  <a:srgbClr val="FFFFFF"/>
                </a:solidFill>
              </a:rPr>
              <a:t>importateurs</a:t>
            </a:r>
            <a:r>
              <a:rPr b="0" i="0" dirty="0">
                <a:solidFill>
                  <a:srgbClr val="FFFFFF"/>
                </a:solidFill>
              </a:rPr>
              <a:t> </a:t>
            </a:r>
            <a:r>
              <a:rPr b="0" i="0" dirty="0" err="1">
                <a:solidFill>
                  <a:srgbClr val="FFFFFF"/>
                </a:solidFill>
              </a:rPr>
              <a:t>déclarent</a:t>
            </a:r>
            <a:r>
              <a:rPr b="0" i="0" dirty="0">
                <a:solidFill>
                  <a:srgbClr val="FFFFFF"/>
                </a:solidFill>
              </a:rPr>
              <a:t> un prix </a:t>
            </a:r>
            <a:r>
              <a:rPr b="0" i="0" dirty="0" err="1">
                <a:solidFill>
                  <a:srgbClr val="FFFFFF"/>
                </a:solidFill>
              </a:rPr>
              <a:t>inférieur</a:t>
            </a:r>
            <a:r>
              <a:rPr lang="en-US" b="0" i="0" dirty="0">
                <a:solidFill>
                  <a:srgbClr val="FFFFFF"/>
                </a:solidFill>
              </a:rPr>
              <a:t> </a:t>
            </a:r>
            <a:r>
              <a:rPr lang="fr-FR" dirty="0">
                <a:solidFill>
                  <a:srgbClr val="FFFFFF"/>
                </a:solidFill>
              </a:rPr>
              <a:t>au prix réel pour payer moins de taxes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3133860"/>
            <a:ext cx="50292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i="0" dirty="0">
                <a:solidFill>
                  <a:srgbClr val="FFFFFF"/>
                </a:solidFill>
              </a:rPr>
              <a:t>▸  Perte </a:t>
            </a:r>
            <a:r>
              <a:rPr b="0" i="0" dirty="0" err="1">
                <a:solidFill>
                  <a:srgbClr val="FFFFFF"/>
                </a:solidFill>
              </a:rPr>
              <a:t>fiscale</a:t>
            </a:r>
            <a:r>
              <a:rPr b="0" i="0" dirty="0">
                <a:solidFill>
                  <a:srgbClr val="FFFFFF"/>
                </a:solidFill>
              </a:rPr>
              <a:t> significative pour </a:t>
            </a:r>
            <a:r>
              <a:rPr b="0" i="0" dirty="0" err="1">
                <a:solidFill>
                  <a:srgbClr val="FFFFFF"/>
                </a:solidFill>
              </a:rPr>
              <a:t>l'État</a:t>
            </a:r>
            <a:endParaRPr b="0" i="0" dirty="0">
              <a:solidFill>
                <a:srgbClr val="FFFFFF"/>
              </a:solidFill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548640" y="3897754"/>
            <a:ext cx="50292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i="0" dirty="0">
                <a:solidFill>
                  <a:srgbClr val="FFFFFF"/>
                </a:solidFill>
              </a:rPr>
              <a:t>▸  </a:t>
            </a:r>
            <a:r>
              <a:rPr b="0" i="0" dirty="0" err="1">
                <a:solidFill>
                  <a:srgbClr val="FFFFFF"/>
                </a:solidFill>
              </a:rPr>
              <a:t>Inspecteurs</a:t>
            </a:r>
            <a:r>
              <a:rPr b="0" i="0" dirty="0">
                <a:solidFill>
                  <a:srgbClr val="FFFFFF"/>
                </a:solidFill>
              </a:rPr>
              <a:t> sans </a:t>
            </a:r>
            <a:r>
              <a:rPr b="0" i="0" dirty="0" err="1">
                <a:solidFill>
                  <a:srgbClr val="FFFFFF"/>
                </a:solidFill>
              </a:rPr>
              <a:t>outils</a:t>
            </a:r>
            <a:r>
              <a:rPr b="0" i="0" dirty="0">
                <a:solidFill>
                  <a:srgbClr val="FFFFFF"/>
                </a:solidFill>
              </a:rPr>
              <a:t> </a:t>
            </a:r>
            <a:r>
              <a:rPr b="0" i="0" dirty="0" err="1">
                <a:solidFill>
                  <a:srgbClr val="FFFFFF"/>
                </a:solidFill>
              </a:rPr>
              <a:t>automatisés</a:t>
            </a:r>
            <a:endParaRPr b="0" i="0" dirty="0">
              <a:solidFill>
                <a:srgbClr val="FFFFFF"/>
              </a:solidFill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548640" y="4572000"/>
            <a:ext cx="50292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i="0" dirty="0">
                <a:solidFill>
                  <a:srgbClr val="FFFFFF"/>
                </a:solidFill>
              </a:rPr>
              <a:t>▸  Bases de prix </a:t>
            </a:r>
            <a:r>
              <a:rPr b="0" i="0" dirty="0" err="1">
                <a:solidFill>
                  <a:srgbClr val="FFFFFF"/>
                </a:solidFill>
              </a:rPr>
              <a:t>statiques</a:t>
            </a:r>
            <a:r>
              <a:rPr b="0" i="0" dirty="0">
                <a:solidFill>
                  <a:srgbClr val="FFFFFF"/>
                </a:solidFill>
              </a:rPr>
              <a:t> et </a:t>
            </a:r>
            <a:r>
              <a:rPr b="0" i="0" dirty="0" err="1">
                <a:solidFill>
                  <a:srgbClr val="FFFFFF"/>
                </a:solidFill>
              </a:rPr>
              <a:t>obsolètes</a:t>
            </a:r>
            <a:endParaRPr b="0" i="0" dirty="0">
              <a:solidFill>
                <a:srgbClr val="FFFFFF"/>
              </a:solidFill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548640" y="4959391"/>
            <a:ext cx="502920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0" i="0" dirty="0">
                <a:solidFill>
                  <a:srgbClr val="FFFFFF"/>
                </a:solidFill>
              </a:rPr>
              <a:t>      • (ex : Argus ne </a:t>
            </a:r>
            <a:r>
              <a:rPr sz="1600" b="0" i="0" dirty="0" err="1">
                <a:solidFill>
                  <a:srgbClr val="FFFFFF"/>
                </a:solidFill>
              </a:rPr>
              <a:t>reflète</a:t>
            </a:r>
            <a:r>
              <a:rPr sz="1600" b="0" i="0" dirty="0">
                <a:solidFill>
                  <a:srgbClr val="FFFFFF"/>
                </a:solidFill>
              </a:rPr>
              <a:t> pas le </a:t>
            </a:r>
            <a:r>
              <a:rPr sz="1600" b="0" i="0" dirty="0" err="1">
                <a:solidFill>
                  <a:srgbClr val="FFFFFF"/>
                </a:solidFill>
              </a:rPr>
              <a:t>marché</a:t>
            </a:r>
            <a:r>
              <a:rPr lang="en-US" sz="1600" dirty="0">
                <a:solidFill>
                  <a:srgbClr val="FFFFFF"/>
                </a:solidFill>
              </a:rPr>
              <a:t> marocain </a:t>
            </a:r>
            <a:r>
              <a:rPr lang="en-US" sz="1600" dirty="0" err="1">
                <a:solidFill>
                  <a:srgbClr val="FFFFFF"/>
                </a:solidFill>
              </a:rPr>
              <a:t>en</a:t>
            </a:r>
            <a:r>
              <a:rPr lang="en-US" sz="1600" dirty="0">
                <a:solidFill>
                  <a:srgbClr val="FFFFFF"/>
                </a:solidFill>
              </a:rPr>
              <a:t>     </a:t>
            </a:r>
          </a:p>
          <a:p>
            <a:pPr algn="ctr"/>
            <a:r>
              <a:rPr lang="en-US" sz="1600" dirty="0">
                <a:solidFill>
                  <a:srgbClr val="FFFFFF"/>
                </a:solidFill>
              </a:rPr>
              <a:t>temps </a:t>
            </a:r>
            <a:r>
              <a:rPr lang="en-US" sz="1600" dirty="0" err="1">
                <a:solidFill>
                  <a:srgbClr val="FFFFFF"/>
                </a:solidFill>
              </a:rPr>
              <a:t>réel</a:t>
            </a:r>
            <a:r>
              <a:rPr lang="en-US" sz="1600" dirty="0">
                <a:solidFill>
                  <a:srgbClr val="FFFFFF"/>
                </a:solidFill>
              </a:rPr>
              <a:t>)</a:t>
            </a:r>
            <a:endParaRPr sz="1600" b="0" i="0" dirty="0">
              <a:solidFill>
                <a:srgbClr val="FFFFFF"/>
              </a:solidFill>
            </a:endParaRPr>
          </a:p>
        </p:txBody>
      </p:sp>
      <p:sp>
        <p:nvSpPr>
          <p:cNvPr id="15" name="Rectangle 14"/>
          <p:cNvSpPr/>
          <p:nvPr/>
        </p:nvSpPr>
        <p:spPr>
          <a:xfrm>
            <a:off x="6035040" y="1143000"/>
            <a:ext cx="5760720" cy="5029200"/>
          </a:xfrm>
          <a:prstGeom prst="rect">
            <a:avLst/>
          </a:prstGeom>
          <a:solidFill>
            <a:srgbClr val="16213E"/>
          </a:solidFill>
          <a:ln w="12700">
            <a:solidFill>
              <a:srgbClr val="2196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6217920" y="1234440"/>
            <a:ext cx="53949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2196F3"/>
                </a:solidFill>
              </a:rPr>
              <a:t>Catégories à Risque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217920" y="1737360"/>
            <a:ext cx="5394960" cy="1097280"/>
          </a:xfrm>
          <a:prstGeom prst="rect">
            <a:avLst/>
          </a:prstGeom>
          <a:solidFill>
            <a:srgbClr val="1A5276"/>
          </a:solidFill>
          <a:ln w="12700">
            <a:solidFill>
              <a:srgbClr val="2196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6309360" y="1828800"/>
            <a:ext cx="7315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 i="0">
                <a:solidFill>
                  <a:srgbClr val="FFFFFF"/>
                </a:solidFill>
              </a:rPr>
              <a:t>🚗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995160" y="1783080"/>
            <a:ext cx="43891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</a:rPr>
              <a:t>Véhicules d'occasion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995160" y="2194560"/>
            <a:ext cx="4389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CCCCCC"/>
                </a:solidFill>
              </a:rPr>
              <a:t>Dépréciation mal déclarée,
kilométrage falsifié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217920" y="3108960"/>
            <a:ext cx="5394960" cy="1097280"/>
          </a:xfrm>
          <a:prstGeom prst="rect">
            <a:avLst/>
          </a:prstGeom>
          <a:solidFill>
            <a:srgbClr val="1A5276"/>
          </a:solidFill>
          <a:ln w="12700">
            <a:solidFill>
              <a:srgbClr val="2196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6309360" y="3200400"/>
            <a:ext cx="7315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 i="0">
                <a:solidFill>
                  <a:srgbClr val="FFFFFF"/>
                </a:solidFill>
              </a:rPr>
              <a:t>📱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995160" y="3154679"/>
            <a:ext cx="43891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</a:rPr>
              <a:t>Smartphones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995160" y="3566160"/>
            <a:ext cx="4389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CCCCCC"/>
                </a:solidFill>
              </a:rPr>
              <a:t>Sous-facturation des
appareils premium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217920" y="4480560"/>
            <a:ext cx="5394960" cy="1097280"/>
          </a:xfrm>
          <a:prstGeom prst="rect">
            <a:avLst/>
          </a:prstGeom>
          <a:solidFill>
            <a:srgbClr val="1A5276"/>
          </a:solidFill>
          <a:ln w="12700">
            <a:solidFill>
              <a:srgbClr val="2196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6309360" y="4572000"/>
            <a:ext cx="7315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 i="0">
                <a:solidFill>
                  <a:srgbClr val="FFFFFF"/>
                </a:solidFill>
              </a:rPr>
              <a:t>💻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995160" y="4526280"/>
            <a:ext cx="43891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</a:rPr>
              <a:t>Laptops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995160" y="4937760"/>
            <a:ext cx="4389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CCCCCC"/>
                </a:solidFill>
              </a:rPr>
              <a:t>Specs techniques sous-
évaluées à l'import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2196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365760" y="13716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Solution Proposée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58368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1">
                <a:solidFill>
                  <a:srgbClr val="CCCCCC"/>
                </a:solidFill>
              </a:rPr>
              <a:t>Diouan-Tech — Architecture Globale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960120"/>
            <a:ext cx="11430000" cy="27432"/>
          </a:xfrm>
          <a:prstGeom prst="rect">
            <a:avLst/>
          </a:prstGeom>
          <a:solidFill>
            <a:srgbClr val="2196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457200" y="1280160"/>
            <a:ext cx="2560320" cy="3200400"/>
          </a:xfrm>
          <a:prstGeom prst="rect">
            <a:avLst/>
          </a:prstGeom>
          <a:solidFill>
            <a:srgbClr val="16213E"/>
          </a:solidFill>
          <a:ln w="25400">
            <a:solidFill>
              <a:srgbClr val="2196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457200" y="1371600"/>
            <a:ext cx="25603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 i="0">
                <a:solidFill>
                  <a:srgbClr val="2196F3"/>
                </a:solidFill>
              </a:rPr>
              <a:t>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828800"/>
            <a:ext cx="25603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</a:rPr>
              <a:t>Scraping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2423160"/>
            <a:ext cx="25603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1">
                <a:solidFill>
                  <a:srgbClr val="CCCCCC"/>
                </a:solidFill>
              </a:rPr>
              <a:t>Avito.ma
Kimovil
GSMArena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017520" y="2377440"/>
            <a:ext cx="3657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 i="0">
                <a:solidFill>
                  <a:srgbClr val="2196F3"/>
                </a:solidFill>
              </a:rPr>
              <a:t>→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383280" y="1280160"/>
            <a:ext cx="2560320" cy="3200400"/>
          </a:xfrm>
          <a:prstGeom prst="rect">
            <a:avLst/>
          </a:prstGeom>
          <a:solidFill>
            <a:srgbClr val="16213E"/>
          </a:solidFill>
          <a:ln w="25400">
            <a:solidFill>
              <a:srgbClr val="2196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3383280" y="1371600"/>
            <a:ext cx="25603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 i="0">
                <a:solidFill>
                  <a:srgbClr val="2196F3"/>
                </a:solidFill>
              </a:rPr>
              <a:t>02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383280" y="1828800"/>
            <a:ext cx="25603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</a:rPr>
              <a:t>ETL / Cleaning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383280" y="2423160"/>
            <a:ext cx="25603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1">
                <a:solidFill>
                  <a:srgbClr val="CCCCCC"/>
                </a:solidFill>
              </a:rPr>
              <a:t>Pandas
Regex
Feature Eng.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943600" y="2377440"/>
            <a:ext cx="3657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 i="0">
                <a:solidFill>
                  <a:srgbClr val="2196F3"/>
                </a:solidFill>
              </a:rPr>
              <a:t>→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309360" y="1280160"/>
            <a:ext cx="2560320" cy="3200400"/>
          </a:xfrm>
          <a:prstGeom prst="rect">
            <a:avLst/>
          </a:prstGeom>
          <a:solidFill>
            <a:srgbClr val="16213E"/>
          </a:solidFill>
          <a:ln w="25400">
            <a:solidFill>
              <a:srgbClr val="2196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6309360" y="1371600"/>
            <a:ext cx="25603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 i="0">
                <a:solidFill>
                  <a:srgbClr val="2196F3"/>
                </a:solidFill>
              </a:rPr>
              <a:t>03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309360" y="1828800"/>
            <a:ext cx="25603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</a:rPr>
              <a:t>ML Model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309360" y="2423160"/>
            <a:ext cx="25603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1">
                <a:solidFill>
                  <a:srgbClr val="CCCCCC"/>
                </a:solidFill>
              </a:rPr>
              <a:t>Random Forest
XGBoost
Scoring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869680" y="2377440"/>
            <a:ext cx="3657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 i="0">
                <a:solidFill>
                  <a:srgbClr val="2196F3"/>
                </a:solidFill>
              </a:rPr>
              <a:t>→</a:t>
            </a:r>
          </a:p>
        </p:txBody>
      </p:sp>
      <p:sp>
        <p:nvSpPr>
          <p:cNvPr id="21" name="Rectangle 20"/>
          <p:cNvSpPr/>
          <p:nvPr/>
        </p:nvSpPr>
        <p:spPr>
          <a:xfrm>
            <a:off x="9235440" y="1280160"/>
            <a:ext cx="2560320" cy="3200400"/>
          </a:xfrm>
          <a:prstGeom prst="rect">
            <a:avLst/>
          </a:prstGeom>
          <a:solidFill>
            <a:srgbClr val="16213E"/>
          </a:solidFill>
          <a:ln w="25400">
            <a:solidFill>
              <a:srgbClr val="2ECC7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9235440" y="1371600"/>
            <a:ext cx="25603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 i="0">
                <a:solidFill>
                  <a:srgbClr val="2ECC71"/>
                </a:solidFill>
              </a:rPr>
              <a:t>04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235440" y="1828800"/>
            <a:ext cx="25603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</a:rPr>
              <a:t>Power BI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235440" y="2423160"/>
            <a:ext cx="25603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1">
                <a:solidFill>
                  <a:srgbClr val="CCCCCC"/>
                </a:solidFill>
              </a:rPr>
              <a:t>Dashboard
KPIs
Alertes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57200" y="4663440"/>
            <a:ext cx="11247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2196F3"/>
                </a:solidFill>
              </a:rPr>
              <a:t>Objectif Principal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57200" y="4983480"/>
            <a:ext cx="11247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1">
                <a:solidFill>
                  <a:srgbClr val="FFFFFF"/>
                </a:solidFill>
              </a:rPr>
              <a:t>Comparer la Valeur Déclarée à la Valeur Estimée par le ML → Générer une Alerte de Risque en Temps Réel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2196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365760" y="13716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Pipeline de Données (ETL)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58368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1">
                <a:solidFill>
                  <a:srgbClr val="CCCCCC"/>
                </a:solidFill>
              </a:rPr>
              <a:t>Scraping → Nettoyage → Simulation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960120"/>
            <a:ext cx="11430000" cy="27432"/>
          </a:xfrm>
          <a:prstGeom prst="rect">
            <a:avLst/>
          </a:prstGeom>
          <a:solidFill>
            <a:srgbClr val="2196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320040" y="1188720"/>
            <a:ext cx="2743200" cy="4389120"/>
          </a:xfrm>
          <a:prstGeom prst="rect">
            <a:avLst/>
          </a:prstGeom>
          <a:solidFill>
            <a:srgbClr val="16213E"/>
          </a:solidFill>
          <a:ln w="25400">
            <a:solidFill>
              <a:srgbClr val="2196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320040" y="1188720"/>
            <a:ext cx="2743200" cy="457200"/>
          </a:xfrm>
          <a:prstGeom prst="rect">
            <a:avLst/>
          </a:prstGeom>
          <a:solidFill>
            <a:srgbClr val="2196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320040" y="1207008"/>
            <a:ext cx="2743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1A1A2E"/>
                </a:solidFill>
              </a:rPr>
              <a:t>EXTRACTION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20040" y="1719072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1">
                <a:solidFill>
                  <a:srgbClr val="2196F3"/>
                </a:solidFill>
              </a:rPr>
              <a:t>Scraping Python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11479" y="2194560"/>
            <a:ext cx="2560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▸  Avito.ma → Véhicules d'occasion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11479" y="2834639"/>
            <a:ext cx="2560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▸  Kimovil / GSMArena → Phones &amp; Laptops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11479" y="3474720"/>
            <a:ext cx="2560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▸  Gestion pagination + rotation User-Agents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291840" y="1188720"/>
            <a:ext cx="2743200" cy="4389120"/>
          </a:xfrm>
          <a:prstGeom prst="rect">
            <a:avLst/>
          </a:prstGeom>
          <a:solidFill>
            <a:srgbClr val="16213E"/>
          </a:solidFill>
          <a:ln w="25400">
            <a:solidFill>
              <a:srgbClr val="E67E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3291840" y="1188720"/>
            <a:ext cx="2743200" cy="457200"/>
          </a:xfrm>
          <a:prstGeom prst="rect">
            <a:avLst/>
          </a:prstGeom>
          <a:solidFill>
            <a:srgbClr val="E67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3291840" y="1207008"/>
            <a:ext cx="2743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1A1A2E"/>
                </a:solidFill>
              </a:rPr>
              <a:t>TRANSFORM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291840" y="1719072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1">
                <a:solidFill>
                  <a:srgbClr val="E67E22"/>
                </a:solidFill>
              </a:rPr>
              <a:t>Nettoyage &amp; Feature Eng.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383280" y="2194560"/>
            <a:ext cx="2560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▸  Nettoyage Regex (prix, kilométrage)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383280" y="2834639"/>
            <a:ext cx="2560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▸  Création variables : car_age, condition_score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383280" y="3474720"/>
            <a:ext cx="2560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▸  Encodage des variables catégorielles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263640" y="1188720"/>
            <a:ext cx="2743200" cy="4389120"/>
          </a:xfrm>
          <a:prstGeom prst="rect">
            <a:avLst/>
          </a:prstGeom>
          <a:solidFill>
            <a:srgbClr val="16213E"/>
          </a:solidFill>
          <a:ln w="25400">
            <a:solidFill>
              <a:srgbClr val="2ECC7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6263640" y="1188720"/>
            <a:ext cx="2743200" cy="457200"/>
          </a:xfrm>
          <a:prstGeom prst="rect">
            <a:avLst/>
          </a:prstGeom>
          <a:solidFill>
            <a:srgbClr val="2ECC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6263640" y="1207008"/>
            <a:ext cx="2743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1A1A2E"/>
                </a:solidFill>
              </a:rPr>
              <a:t>SIMULATION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263640" y="1719072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1">
                <a:solidFill>
                  <a:srgbClr val="2ECC71"/>
                </a:solidFill>
              </a:rPr>
              <a:t>Monte Carlo (85/15)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355079" y="2194560"/>
            <a:ext cx="2560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▸  5 000 déclarations voitures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355079" y="2834639"/>
            <a:ext cx="2560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▸  300 smartphones + 300 laptops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355079" y="3474720"/>
            <a:ext cx="2560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▸  85% conformes / 15% frauduleuses</a:t>
            </a:r>
          </a:p>
        </p:txBody>
      </p:sp>
      <p:sp>
        <p:nvSpPr>
          <p:cNvPr id="27" name="Rectangle 26"/>
          <p:cNvSpPr/>
          <p:nvPr/>
        </p:nvSpPr>
        <p:spPr>
          <a:xfrm>
            <a:off x="9235440" y="1188720"/>
            <a:ext cx="2743200" cy="4389120"/>
          </a:xfrm>
          <a:prstGeom prst="rect">
            <a:avLst/>
          </a:prstGeom>
          <a:solidFill>
            <a:srgbClr val="16213E"/>
          </a:solidFill>
          <a:ln w="25400">
            <a:solidFill>
              <a:srgbClr val="F1C40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Rectangle 27"/>
          <p:cNvSpPr/>
          <p:nvPr/>
        </p:nvSpPr>
        <p:spPr>
          <a:xfrm>
            <a:off x="9235440" y="1188720"/>
            <a:ext cx="2743200" cy="457200"/>
          </a:xfrm>
          <a:prstGeom prst="rect">
            <a:avLst/>
          </a:prstGeom>
          <a:solidFill>
            <a:srgbClr val="F1C4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9235440" y="1207008"/>
            <a:ext cx="2743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1A1A2E"/>
                </a:solidFill>
              </a:rPr>
              <a:t>LOAD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235440" y="1719072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1">
                <a:solidFill>
                  <a:srgbClr val="F1C40F"/>
                </a:solidFill>
              </a:rPr>
              <a:t>CSV / Parquet / PKL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326880" y="2194560"/>
            <a:ext cx="2560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▸  Fichiers CSV prêts pour Power BI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326880" y="2834639"/>
            <a:ext cx="2560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▸  Modèles .pkl sérialisés avec Joblib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326880" y="3474720"/>
            <a:ext cx="2560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▸  Reports de performance automatiques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2196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365760" y="13716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Modélisation Machine Learning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58368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1">
                <a:solidFill>
                  <a:srgbClr val="CCCCCC"/>
                </a:solidFill>
              </a:rPr>
              <a:t>Random Forest &amp; XGBoost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960120"/>
            <a:ext cx="11430000" cy="27432"/>
          </a:xfrm>
          <a:prstGeom prst="rect">
            <a:avLst/>
          </a:prstGeom>
          <a:solidFill>
            <a:srgbClr val="2196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365760" y="1188720"/>
            <a:ext cx="5394960" cy="4572000"/>
          </a:xfrm>
          <a:prstGeom prst="rect">
            <a:avLst/>
          </a:prstGeom>
          <a:solidFill>
            <a:srgbClr val="16213E"/>
          </a:solidFill>
          <a:ln w="25400">
            <a:solidFill>
              <a:srgbClr val="2196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365760" y="1188720"/>
            <a:ext cx="5394960" cy="457200"/>
          </a:xfrm>
          <a:prstGeom prst="rect">
            <a:avLst/>
          </a:prstGeom>
          <a:solidFill>
            <a:srgbClr val="2196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457200" y="1207008"/>
            <a:ext cx="52120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1A1A2E"/>
                </a:solidFill>
              </a:rPr>
              <a:t>🌲  Random Forest  —  Phones &amp; Cars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1783080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▸  N arbres entraînés sur sous-échantillons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2167128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▸  aléatoires (bootstrapping)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2551176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▸  Prédiction = moyenne de tous les arbres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2935224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▸  Robuste aux outliers (prix aberrants Avito)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3319272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▸  Pas de normalisation requise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" y="3703320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▸  Feature importance interprétable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400800" y="1188720"/>
            <a:ext cx="5394960" cy="4572000"/>
          </a:xfrm>
          <a:prstGeom prst="rect">
            <a:avLst/>
          </a:prstGeom>
          <a:solidFill>
            <a:srgbClr val="16213E"/>
          </a:solidFill>
          <a:ln w="25400">
            <a:solidFill>
              <a:srgbClr val="E67E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6400800" y="1188720"/>
            <a:ext cx="5394960" cy="457200"/>
          </a:xfrm>
          <a:prstGeom prst="rect">
            <a:avLst/>
          </a:prstGeom>
          <a:solidFill>
            <a:srgbClr val="E67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6492240" y="1207008"/>
            <a:ext cx="52120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1A1A2E"/>
                </a:solidFill>
              </a:rPr>
              <a:t>⚡  XGBoost  —  Laptops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83680" y="1783080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▸  Arbres construits séquentiellement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583680" y="2167128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▸  Chaque arbre corrige les erreurs du précédent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583680" y="2551176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▸  Target = log_price (gestion grande variance)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583680" y="2935224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▸  Régularisation L1/L2 (features corrélées)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583680" y="3319272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▸  Early stopping sur validation set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583680" y="3703320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▸  Cross-validation 5-fold pour fiabilité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486400" y="2651760"/>
            <a:ext cx="11887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CCCCCC"/>
                </a:solidFill>
              </a:rPr>
              <a:t>VS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2196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365760" y="13716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Système de Scoring Douanier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58368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1">
                <a:solidFill>
                  <a:srgbClr val="CCCCCC"/>
                </a:solidFill>
              </a:rPr>
              <a:t>Formule de détection &amp; niveaux de risque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960120"/>
            <a:ext cx="11430000" cy="27432"/>
          </a:xfrm>
          <a:prstGeom prst="rect">
            <a:avLst/>
          </a:prstGeom>
          <a:solidFill>
            <a:srgbClr val="2196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365760" y="1097280"/>
            <a:ext cx="112471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2196F3"/>
                </a:solidFill>
              </a:rPr>
              <a:t>Formule de Calcul de l'Écart</a:t>
            </a:r>
          </a:p>
        </p:txBody>
      </p:sp>
      <p:sp>
        <p:nvSpPr>
          <p:cNvPr id="7" name="Rectangle 6"/>
          <p:cNvSpPr/>
          <p:nvPr/>
        </p:nvSpPr>
        <p:spPr>
          <a:xfrm>
            <a:off x="1371600" y="1554480"/>
            <a:ext cx="9418320" cy="777240"/>
          </a:xfrm>
          <a:prstGeom prst="rect">
            <a:avLst/>
          </a:prstGeom>
          <a:solidFill>
            <a:srgbClr val="16213E"/>
          </a:solidFill>
          <a:ln w="19050">
            <a:solidFill>
              <a:srgbClr val="2196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371600" y="1627632"/>
            <a:ext cx="9418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</a:rPr>
              <a:t>gap_pct  =  ( declared_price  −  fair_value )  /  fair_value  ×  100</a:t>
            </a:r>
          </a:p>
        </p:txBody>
      </p:sp>
      <p:sp>
        <p:nvSpPr>
          <p:cNvPr id="9" name="Rectangle 8"/>
          <p:cNvSpPr/>
          <p:nvPr/>
        </p:nvSpPr>
        <p:spPr>
          <a:xfrm>
            <a:off x="320040" y="2606040"/>
            <a:ext cx="2743200" cy="3200400"/>
          </a:xfrm>
          <a:prstGeom prst="rect">
            <a:avLst/>
          </a:prstGeom>
          <a:solidFill>
            <a:srgbClr val="16213E"/>
          </a:solidFill>
          <a:ln w="25400">
            <a:solidFill>
              <a:srgbClr val="2ECC7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320040" y="2606040"/>
            <a:ext cx="2743200" cy="457200"/>
          </a:xfrm>
          <a:prstGeom prst="rect">
            <a:avLst/>
          </a:prstGeom>
          <a:solidFill>
            <a:srgbClr val="2ECC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320040" y="2624328"/>
            <a:ext cx="2743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1A1A2E"/>
                </a:solidFill>
              </a:rPr>
              <a:t>✅  Normal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20040" y="3154680"/>
            <a:ext cx="2743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2ECC71"/>
                </a:solidFill>
              </a:rPr>
              <a:t>Écart &lt; 20%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20040" y="3611880"/>
            <a:ext cx="27432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1">
                <a:solidFill>
                  <a:srgbClr val="CCCCCC"/>
                </a:solidFill>
              </a:rPr>
              <a:t>Déclaration conforme
Aucune action requise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291840" y="2606040"/>
            <a:ext cx="2743200" cy="3200400"/>
          </a:xfrm>
          <a:prstGeom prst="rect">
            <a:avLst/>
          </a:prstGeom>
          <a:solidFill>
            <a:srgbClr val="16213E"/>
          </a:solidFill>
          <a:ln w="25400">
            <a:solidFill>
              <a:srgbClr val="F1C40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3291840" y="2606040"/>
            <a:ext cx="2743200" cy="457200"/>
          </a:xfrm>
          <a:prstGeom prst="rect">
            <a:avLst/>
          </a:prstGeom>
          <a:solidFill>
            <a:srgbClr val="F1C4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3291840" y="2624328"/>
            <a:ext cx="2743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1A1A2E"/>
                </a:solidFill>
              </a:rPr>
              <a:t>⚠️   Suspect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291840" y="3154680"/>
            <a:ext cx="2743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1C40F"/>
                </a:solidFill>
              </a:rPr>
              <a:t>20% — 35%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291840" y="3611880"/>
            <a:ext cx="27432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1">
                <a:solidFill>
                  <a:srgbClr val="CCCCCC"/>
                </a:solidFill>
              </a:rPr>
              <a:t>Contrôle recommandé
Vérification manuelle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263640" y="2606040"/>
            <a:ext cx="2743200" cy="3200400"/>
          </a:xfrm>
          <a:prstGeom prst="rect">
            <a:avLst/>
          </a:prstGeom>
          <a:solidFill>
            <a:srgbClr val="16213E"/>
          </a:solidFill>
          <a:ln w="25400">
            <a:solidFill>
              <a:srgbClr val="E67E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6263640" y="2606040"/>
            <a:ext cx="2743200" cy="457200"/>
          </a:xfrm>
          <a:prstGeom prst="rect">
            <a:avLst/>
          </a:prstGeom>
          <a:solidFill>
            <a:srgbClr val="E67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6263640" y="2624328"/>
            <a:ext cx="2743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1A1A2E"/>
                </a:solidFill>
              </a:rPr>
              <a:t>🔶  Risque Élevé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263640" y="3154680"/>
            <a:ext cx="2743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E67E22"/>
                </a:solidFill>
              </a:rPr>
              <a:t>35% — 55%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263640" y="3611880"/>
            <a:ext cx="27432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1">
                <a:solidFill>
                  <a:srgbClr val="CCCCCC"/>
                </a:solidFill>
              </a:rPr>
              <a:t>Contrôle prioritaire
Dossier à examiner</a:t>
            </a:r>
          </a:p>
        </p:txBody>
      </p:sp>
      <p:sp>
        <p:nvSpPr>
          <p:cNvPr id="24" name="Rectangle 23"/>
          <p:cNvSpPr/>
          <p:nvPr/>
        </p:nvSpPr>
        <p:spPr>
          <a:xfrm>
            <a:off x="9235440" y="2606040"/>
            <a:ext cx="2743200" cy="3200400"/>
          </a:xfrm>
          <a:prstGeom prst="rect">
            <a:avLst/>
          </a:prstGeom>
          <a:solidFill>
            <a:srgbClr val="16213E"/>
          </a:solidFill>
          <a:ln w="25400">
            <a:solidFill>
              <a:srgbClr val="E74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ectangle 24"/>
          <p:cNvSpPr/>
          <p:nvPr/>
        </p:nvSpPr>
        <p:spPr>
          <a:xfrm>
            <a:off x="9235440" y="2606040"/>
            <a:ext cx="2743200" cy="457200"/>
          </a:xfrm>
          <a:prstGeom prst="rect">
            <a:avLst/>
          </a:prstGeom>
          <a:solidFill>
            <a:srgbClr val="E74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9235440" y="2624328"/>
            <a:ext cx="2743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1A1A2E"/>
                </a:solidFill>
              </a:rPr>
              <a:t>🚩  Fraude Probable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235440" y="3154680"/>
            <a:ext cx="2743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E74C3C"/>
                </a:solidFill>
              </a:rPr>
              <a:t>Écart &gt; 55%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235440" y="3611880"/>
            <a:ext cx="27432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1">
                <a:solidFill>
                  <a:srgbClr val="CCCCCC"/>
                </a:solidFill>
              </a:rPr>
              <a:t>Alerte immédiate
Blocage de la déclaration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2196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365760" y="13716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Dashboard — 📱 Téléphones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58368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1">
                <a:solidFill>
                  <a:srgbClr val="CCCCCC"/>
                </a:solidFill>
              </a:rPr>
              <a:t>Module Smartphones — Power BI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960120"/>
            <a:ext cx="11430000" cy="27432"/>
          </a:xfrm>
          <a:prstGeom prst="rect">
            <a:avLst/>
          </a:prstGeom>
          <a:solidFill>
            <a:srgbClr val="2196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365760" y="1143000"/>
            <a:ext cx="11430000" cy="4389120"/>
          </a:xfrm>
          <a:prstGeom prst="rect">
            <a:avLst/>
          </a:prstGeom>
          <a:solidFill>
            <a:srgbClr val="16213E"/>
          </a:solidFill>
          <a:ln w="12700">
            <a:solidFill>
              <a:srgbClr val="2196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365760" y="1143000"/>
            <a:ext cx="114300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 i="1">
                <a:solidFill>
                  <a:srgbClr val="CCCCCC"/>
                </a:solidFill>
              </a:rPr>
              <a:t>[ Insérer ici le screenshot du Dashboard Téléphones ]</a:t>
            </a:r>
          </a:p>
        </p:txBody>
      </p:sp>
      <p:sp>
        <p:nvSpPr>
          <p:cNvPr id="8" name="Rectangle 7"/>
          <p:cNvSpPr/>
          <p:nvPr/>
        </p:nvSpPr>
        <p:spPr>
          <a:xfrm>
            <a:off x="365760" y="5669280"/>
            <a:ext cx="2103120" cy="868680"/>
          </a:xfrm>
          <a:prstGeom prst="rect">
            <a:avLst/>
          </a:prstGeom>
          <a:solidFill>
            <a:srgbClr val="16213E"/>
          </a:solidFill>
          <a:ln w="19050">
            <a:solidFill>
              <a:srgbClr val="2196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365760" y="5742432"/>
            <a:ext cx="2103120" cy="47777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 i="0">
                <a:solidFill>
                  <a:srgbClr val="2196F3"/>
                </a:solidFill>
              </a:rPr>
              <a:t>300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" y="6147054"/>
            <a:ext cx="21031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CCCCCC"/>
                </a:solidFill>
              </a:rPr>
              <a:t>Déclarations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642616" y="5669280"/>
            <a:ext cx="2103120" cy="868680"/>
          </a:xfrm>
          <a:prstGeom prst="rect">
            <a:avLst/>
          </a:prstGeom>
          <a:solidFill>
            <a:srgbClr val="16213E"/>
          </a:solidFill>
          <a:ln w="19050">
            <a:solidFill>
              <a:srgbClr val="2196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2642616" y="5742432"/>
            <a:ext cx="2103120" cy="47777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 i="0">
                <a:solidFill>
                  <a:srgbClr val="2196F3"/>
                </a:solidFill>
              </a:rPr>
              <a:t>118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642616" y="6147054"/>
            <a:ext cx="21031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CCCCCC"/>
                </a:solidFill>
              </a:rPr>
              <a:t>Fraudes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919472" y="5669280"/>
            <a:ext cx="2103120" cy="868680"/>
          </a:xfrm>
          <a:prstGeom prst="rect">
            <a:avLst/>
          </a:prstGeom>
          <a:solidFill>
            <a:srgbClr val="16213E"/>
          </a:solidFill>
          <a:ln w="19050">
            <a:solidFill>
              <a:srgbClr val="2196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4919472" y="5742432"/>
            <a:ext cx="2103120" cy="47777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 i="0">
                <a:solidFill>
                  <a:srgbClr val="2196F3"/>
                </a:solidFill>
              </a:rPr>
              <a:t>39.33%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919472" y="6147054"/>
            <a:ext cx="21031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CCCCCC"/>
                </a:solidFill>
              </a:rPr>
              <a:t>Taux Fraude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196328" y="5669280"/>
            <a:ext cx="2103120" cy="868680"/>
          </a:xfrm>
          <a:prstGeom prst="rect">
            <a:avLst/>
          </a:prstGeom>
          <a:solidFill>
            <a:srgbClr val="16213E"/>
          </a:solidFill>
          <a:ln w="19050">
            <a:solidFill>
              <a:srgbClr val="2196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7196328" y="5742432"/>
            <a:ext cx="2103120" cy="47777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 i="0">
                <a:solidFill>
                  <a:srgbClr val="2196F3"/>
                </a:solidFill>
              </a:rPr>
              <a:t>60.67%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196328" y="6147054"/>
            <a:ext cx="21031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CCCCCC"/>
                </a:solidFill>
              </a:rPr>
              <a:t>Conformité</a:t>
            </a:r>
          </a:p>
        </p:txBody>
      </p:sp>
      <p:sp>
        <p:nvSpPr>
          <p:cNvPr id="20" name="Rectangle 19"/>
          <p:cNvSpPr/>
          <p:nvPr/>
        </p:nvSpPr>
        <p:spPr>
          <a:xfrm>
            <a:off x="9473184" y="5669280"/>
            <a:ext cx="2103120" cy="868680"/>
          </a:xfrm>
          <a:prstGeom prst="rect">
            <a:avLst/>
          </a:prstGeom>
          <a:solidFill>
            <a:srgbClr val="16213E"/>
          </a:solidFill>
          <a:ln w="19050">
            <a:solidFill>
              <a:srgbClr val="2196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9473184" y="5742432"/>
            <a:ext cx="2103120" cy="47777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 i="0">
                <a:solidFill>
                  <a:srgbClr val="2196F3"/>
                </a:solidFill>
              </a:rPr>
              <a:t>31.65%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473184" y="6147054"/>
            <a:ext cx="21031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CCCCCC"/>
                </a:solidFill>
              </a:rPr>
              <a:t>Écart Moyen</a:t>
            </a:r>
          </a:p>
        </p:txBody>
      </p:sp>
      <p:pic>
        <p:nvPicPr>
          <p:cNvPr id="24" name="Picture 23">
            <a:extLst>
              <a:ext uri="{FF2B5EF4-FFF2-40B4-BE49-F238E27FC236}">
                <a16:creationId xmlns:a16="http://schemas.microsoft.com/office/drawing/2014/main" id="{76952A41-33D2-1EC0-72E0-C3AEA95AA17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3065" y="1161288"/>
            <a:ext cx="11402696" cy="4370832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2196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365760" y="13716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Dashboard — 🚗 Véhicules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58368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1">
                <a:solidFill>
                  <a:srgbClr val="CCCCCC"/>
                </a:solidFill>
              </a:rPr>
              <a:t>Module Voitures — Power BI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960120"/>
            <a:ext cx="11430000" cy="27432"/>
          </a:xfrm>
          <a:prstGeom prst="rect">
            <a:avLst/>
          </a:prstGeom>
          <a:solidFill>
            <a:srgbClr val="2196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365760" y="1143000"/>
            <a:ext cx="11430000" cy="4389120"/>
          </a:xfrm>
          <a:prstGeom prst="rect">
            <a:avLst/>
          </a:prstGeom>
          <a:solidFill>
            <a:srgbClr val="16213E"/>
          </a:solidFill>
          <a:ln w="12700">
            <a:solidFill>
              <a:srgbClr val="2196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365760" y="5669280"/>
            <a:ext cx="2103120" cy="868680"/>
          </a:xfrm>
          <a:prstGeom prst="rect">
            <a:avLst/>
          </a:prstGeom>
          <a:solidFill>
            <a:srgbClr val="16213E"/>
          </a:solidFill>
          <a:ln w="19050">
            <a:solidFill>
              <a:srgbClr val="2196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365760" y="5742432"/>
            <a:ext cx="2103120" cy="47777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 i="0">
                <a:solidFill>
                  <a:srgbClr val="2196F3"/>
                </a:solidFill>
              </a:rPr>
              <a:t>5 000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" y="6147054"/>
            <a:ext cx="21031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CCCCCC"/>
                </a:solidFill>
              </a:rPr>
              <a:t>Déclarations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642616" y="5669280"/>
            <a:ext cx="2103120" cy="868680"/>
          </a:xfrm>
          <a:prstGeom prst="rect">
            <a:avLst/>
          </a:prstGeom>
          <a:solidFill>
            <a:srgbClr val="16213E"/>
          </a:solidFill>
          <a:ln w="19050">
            <a:solidFill>
              <a:srgbClr val="2196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2642616" y="5742432"/>
            <a:ext cx="2103120" cy="47777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 i="0">
                <a:solidFill>
                  <a:srgbClr val="2196F3"/>
                </a:solidFill>
              </a:rPr>
              <a:t>750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642616" y="6147054"/>
            <a:ext cx="21031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CCCCCC"/>
                </a:solidFill>
              </a:rPr>
              <a:t>Fraudes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919472" y="5669280"/>
            <a:ext cx="2103120" cy="868680"/>
          </a:xfrm>
          <a:prstGeom prst="rect">
            <a:avLst/>
          </a:prstGeom>
          <a:solidFill>
            <a:srgbClr val="16213E"/>
          </a:solidFill>
          <a:ln w="19050">
            <a:solidFill>
              <a:srgbClr val="2196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4919472" y="5742432"/>
            <a:ext cx="2103120" cy="47777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 i="0">
                <a:solidFill>
                  <a:srgbClr val="2196F3"/>
                </a:solidFill>
              </a:rPr>
              <a:t>15%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919472" y="6147054"/>
            <a:ext cx="21031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CCCCCC"/>
                </a:solidFill>
              </a:rPr>
              <a:t>Taux Fraude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196328" y="5669280"/>
            <a:ext cx="2103120" cy="868680"/>
          </a:xfrm>
          <a:prstGeom prst="rect">
            <a:avLst/>
          </a:prstGeom>
          <a:solidFill>
            <a:srgbClr val="16213E"/>
          </a:solidFill>
          <a:ln w="19050">
            <a:solidFill>
              <a:srgbClr val="2196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7196328" y="5742432"/>
            <a:ext cx="2103120" cy="47777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 i="0">
                <a:solidFill>
                  <a:srgbClr val="2196F3"/>
                </a:solidFill>
              </a:rPr>
              <a:t>85%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196328" y="6147054"/>
            <a:ext cx="21031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CCCCCC"/>
                </a:solidFill>
              </a:rPr>
              <a:t>Conformité</a:t>
            </a:r>
          </a:p>
        </p:txBody>
      </p:sp>
      <p:sp>
        <p:nvSpPr>
          <p:cNvPr id="20" name="Rectangle 19"/>
          <p:cNvSpPr/>
          <p:nvPr/>
        </p:nvSpPr>
        <p:spPr>
          <a:xfrm>
            <a:off x="9473184" y="5669280"/>
            <a:ext cx="2103120" cy="868680"/>
          </a:xfrm>
          <a:prstGeom prst="rect">
            <a:avLst/>
          </a:prstGeom>
          <a:solidFill>
            <a:srgbClr val="16213E"/>
          </a:solidFill>
          <a:ln w="19050">
            <a:solidFill>
              <a:srgbClr val="2196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9473184" y="5742432"/>
            <a:ext cx="2103120" cy="47777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 i="0">
                <a:solidFill>
                  <a:srgbClr val="2196F3"/>
                </a:solidFill>
              </a:rPr>
              <a:t>4.39%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473184" y="6147054"/>
            <a:ext cx="21031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CCCCCC"/>
                </a:solidFill>
              </a:rPr>
              <a:t>Écart Moyen</a:t>
            </a:r>
          </a:p>
        </p:txBody>
      </p:sp>
      <p:pic>
        <p:nvPicPr>
          <p:cNvPr id="24" name="Picture 23">
            <a:extLst>
              <a:ext uri="{FF2B5EF4-FFF2-40B4-BE49-F238E27FC236}">
                <a16:creationId xmlns:a16="http://schemas.microsoft.com/office/drawing/2014/main" id="{BEF5F727-CF30-8358-F44E-A0AA0168837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3064" y="1161288"/>
            <a:ext cx="11402695" cy="4370832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2196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365760" y="13716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Dashboard — 💻 Laptops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58368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1">
                <a:solidFill>
                  <a:srgbClr val="CCCCCC"/>
                </a:solidFill>
              </a:rPr>
              <a:t>Module Laptops — Power BI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960120"/>
            <a:ext cx="11430000" cy="27432"/>
          </a:xfrm>
          <a:prstGeom prst="rect">
            <a:avLst/>
          </a:prstGeom>
          <a:solidFill>
            <a:srgbClr val="2196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365760" y="1143000"/>
            <a:ext cx="11430000" cy="4389120"/>
          </a:xfrm>
          <a:prstGeom prst="rect">
            <a:avLst/>
          </a:prstGeom>
          <a:solidFill>
            <a:srgbClr val="16213E"/>
          </a:solidFill>
          <a:ln w="12700">
            <a:solidFill>
              <a:srgbClr val="2196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365760" y="1143000"/>
            <a:ext cx="114300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 i="1">
                <a:solidFill>
                  <a:srgbClr val="CCCCCC"/>
                </a:solidFill>
              </a:rPr>
              <a:t>[ Insérer ici le screenshot du Dashboard Laptops ]</a:t>
            </a:r>
          </a:p>
        </p:txBody>
      </p:sp>
      <p:sp>
        <p:nvSpPr>
          <p:cNvPr id="8" name="Rectangle 7"/>
          <p:cNvSpPr/>
          <p:nvPr/>
        </p:nvSpPr>
        <p:spPr>
          <a:xfrm>
            <a:off x="365760" y="5669280"/>
            <a:ext cx="2103120" cy="868680"/>
          </a:xfrm>
          <a:prstGeom prst="rect">
            <a:avLst/>
          </a:prstGeom>
          <a:solidFill>
            <a:srgbClr val="16213E"/>
          </a:solidFill>
          <a:ln w="19050">
            <a:solidFill>
              <a:srgbClr val="2196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365760" y="5742432"/>
            <a:ext cx="2103120" cy="47777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 i="0">
                <a:solidFill>
                  <a:srgbClr val="2196F3"/>
                </a:solidFill>
              </a:rPr>
              <a:t>300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" y="6147054"/>
            <a:ext cx="21031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CCCCCC"/>
                </a:solidFill>
              </a:rPr>
              <a:t>Déclarations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642616" y="5669280"/>
            <a:ext cx="2103120" cy="868680"/>
          </a:xfrm>
          <a:prstGeom prst="rect">
            <a:avLst/>
          </a:prstGeom>
          <a:solidFill>
            <a:srgbClr val="16213E"/>
          </a:solidFill>
          <a:ln w="19050">
            <a:solidFill>
              <a:srgbClr val="2196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2642616" y="5742432"/>
            <a:ext cx="2103120" cy="47777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 i="0">
                <a:solidFill>
                  <a:srgbClr val="2196F3"/>
                </a:solidFill>
              </a:rPr>
              <a:t>120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642616" y="6147054"/>
            <a:ext cx="21031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CCCCCC"/>
                </a:solidFill>
              </a:rPr>
              <a:t>Fraudes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919472" y="5669280"/>
            <a:ext cx="2103120" cy="868680"/>
          </a:xfrm>
          <a:prstGeom prst="rect">
            <a:avLst/>
          </a:prstGeom>
          <a:solidFill>
            <a:srgbClr val="16213E"/>
          </a:solidFill>
          <a:ln w="19050">
            <a:solidFill>
              <a:srgbClr val="2196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4919472" y="5742432"/>
            <a:ext cx="2103120" cy="47777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 i="0">
                <a:solidFill>
                  <a:srgbClr val="2196F3"/>
                </a:solidFill>
              </a:rPr>
              <a:t>40%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919472" y="6147054"/>
            <a:ext cx="21031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CCCCCC"/>
                </a:solidFill>
              </a:rPr>
              <a:t>Taux Fraude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196328" y="5669280"/>
            <a:ext cx="2103120" cy="868680"/>
          </a:xfrm>
          <a:prstGeom prst="rect">
            <a:avLst/>
          </a:prstGeom>
          <a:solidFill>
            <a:srgbClr val="16213E"/>
          </a:solidFill>
          <a:ln w="19050">
            <a:solidFill>
              <a:srgbClr val="2196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7196328" y="5742432"/>
            <a:ext cx="2103120" cy="47777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 i="0">
                <a:solidFill>
                  <a:srgbClr val="2196F3"/>
                </a:solidFill>
              </a:rPr>
              <a:t>60%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196328" y="6147054"/>
            <a:ext cx="21031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CCCCCC"/>
                </a:solidFill>
              </a:rPr>
              <a:t>Conformité</a:t>
            </a:r>
          </a:p>
        </p:txBody>
      </p:sp>
      <p:sp>
        <p:nvSpPr>
          <p:cNvPr id="20" name="Rectangle 19"/>
          <p:cNvSpPr/>
          <p:nvPr/>
        </p:nvSpPr>
        <p:spPr>
          <a:xfrm>
            <a:off x="9473184" y="5669280"/>
            <a:ext cx="2103120" cy="868680"/>
          </a:xfrm>
          <a:prstGeom prst="rect">
            <a:avLst/>
          </a:prstGeom>
          <a:solidFill>
            <a:srgbClr val="16213E"/>
          </a:solidFill>
          <a:ln w="19050">
            <a:solidFill>
              <a:srgbClr val="2196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9473184" y="5742432"/>
            <a:ext cx="2103120" cy="47777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 i="0">
                <a:solidFill>
                  <a:srgbClr val="2196F3"/>
                </a:solidFill>
              </a:rPr>
              <a:t>-7.06%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473184" y="6147054"/>
            <a:ext cx="21031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CCCCCC"/>
                </a:solidFill>
              </a:rPr>
              <a:t>Écart Moyen</a:t>
            </a:r>
          </a:p>
        </p:txBody>
      </p:sp>
      <p:pic>
        <p:nvPicPr>
          <p:cNvPr id="24" name="Picture 23">
            <a:extLst>
              <a:ext uri="{FF2B5EF4-FFF2-40B4-BE49-F238E27FC236}">
                <a16:creationId xmlns:a16="http://schemas.microsoft.com/office/drawing/2014/main" id="{C8BFB9D7-837E-2635-04C5-121C904D79D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3064" y="1179575"/>
            <a:ext cx="11401107" cy="4352545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2196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365760" y="13716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Résultats &amp; Performances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58368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1">
                <a:solidFill>
                  <a:srgbClr val="CCCCCC"/>
                </a:solidFill>
              </a:rPr>
              <a:t>Métriques des modèles ML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960120"/>
            <a:ext cx="11430000" cy="27432"/>
          </a:xfrm>
          <a:prstGeom prst="rect">
            <a:avLst/>
          </a:prstGeom>
          <a:solidFill>
            <a:srgbClr val="2196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320040" y="1234440"/>
            <a:ext cx="1783080" cy="457200"/>
          </a:xfrm>
          <a:prstGeom prst="rect">
            <a:avLst/>
          </a:prstGeom>
          <a:solidFill>
            <a:srgbClr val="1A527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347346" y="1280160"/>
            <a:ext cx="17830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Module</a:t>
            </a:r>
          </a:p>
        </p:txBody>
      </p:sp>
      <p:sp>
        <p:nvSpPr>
          <p:cNvPr id="8" name="Rectangle 7"/>
          <p:cNvSpPr/>
          <p:nvPr/>
        </p:nvSpPr>
        <p:spPr>
          <a:xfrm>
            <a:off x="2148840" y="1234440"/>
            <a:ext cx="1691639" cy="457200"/>
          </a:xfrm>
          <a:prstGeom prst="rect">
            <a:avLst/>
          </a:prstGeom>
          <a:solidFill>
            <a:srgbClr val="1A527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2148840" y="1261872"/>
            <a:ext cx="1691639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Algorithme</a:t>
            </a:r>
          </a:p>
        </p:txBody>
      </p:sp>
      <p:sp>
        <p:nvSpPr>
          <p:cNvPr id="10" name="Rectangle 9"/>
          <p:cNvSpPr/>
          <p:nvPr/>
        </p:nvSpPr>
        <p:spPr>
          <a:xfrm>
            <a:off x="3886200" y="1234440"/>
            <a:ext cx="1691639" cy="457200"/>
          </a:xfrm>
          <a:prstGeom prst="rect">
            <a:avLst/>
          </a:prstGeom>
          <a:solidFill>
            <a:srgbClr val="1A527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3886200" y="1261872"/>
            <a:ext cx="1691639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MAE (MAD)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623560" y="1234440"/>
            <a:ext cx="1508760" cy="457200"/>
          </a:xfrm>
          <a:prstGeom prst="rect">
            <a:avLst/>
          </a:prstGeom>
          <a:solidFill>
            <a:srgbClr val="1A527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5623560" y="1261872"/>
            <a:ext cx="15087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RMSE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178040" y="1234440"/>
            <a:ext cx="1143000" cy="457200"/>
          </a:xfrm>
          <a:prstGeom prst="rect">
            <a:avLst/>
          </a:prstGeom>
          <a:solidFill>
            <a:srgbClr val="1A527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7178040" y="1261872"/>
            <a:ext cx="1143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R²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366760" y="1234440"/>
            <a:ext cx="1691639" cy="457200"/>
          </a:xfrm>
          <a:prstGeom prst="rect">
            <a:avLst/>
          </a:prstGeom>
          <a:solidFill>
            <a:srgbClr val="1A527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8366760" y="1261872"/>
            <a:ext cx="1691639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Within 20%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20040" y="1783080"/>
            <a:ext cx="1783080" cy="59436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320040" y="1828800"/>
            <a:ext cx="17830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📱 Téléphones</a:t>
            </a:r>
          </a:p>
        </p:txBody>
      </p:sp>
      <p:sp>
        <p:nvSpPr>
          <p:cNvPr id="20" name="Rectangle 19"/>
          <p:cNvSpPr/>
          <p:nvPr/>
        </p:nvSpPr>
        <p:spPr>
          <a:xfrm>
            <a:off x="2148840" y="1783080"/>
            <a:ext cx="1691639" cy="59436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2148840" y="1828800"/>
            <a:ext cx="1691639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FFFFFF"/>
                </a:solidFill>
              </a:rPr>
              <a:t>Random Forest</a:t>
            </a:r>
          </a:p>
        </p:txBody>
      </p:sp>
      <p:sp>
        <p:nvSpPr>
          <p:cNvPr id="22" name="Rectangle 21"/>
          <p:cNvSpPr/>
          <p:nvPr/>
        </p:nvSpPr>
        <p:spPr>
          <a:xfrm>
            <a:off x="3886200" y="1783080"/>
            <a:ext cx="1691639" cy="59436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3886200" y="1828800"/>
            <a:ext cx="1691639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FFFFFF"/>
                </a:solidFill>
              </a:rPr>
              <a:t>~800 MAD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623560" y="1783080"/>
            <a:ext cx="1508760" cy="59436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5623560" y="1828800"/>
            <a:ext cx="15087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FFFFFF"/>
                </a:solidFill>
              </a:rPr>
              <a:t>~1,200</a:t>
            </a:r>
          </a:p>
        </p:txBody>
      </p:sp>
      <p:sp>
        <p:nvSpPr>
          <p:cNvPr id="26" name="Rectangle 25"/>
          <p:cNvSpPr/>
          <p:nvPr/>
        </p:nvSpPr>
        <p:spPr>
          <a:xfrm>
            <a:off x="7178040" y="1783080"/>
            <a:ext cx="1143000" cy="59436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7178040" y="1828800"/>
            <a:ext cx="1143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FFFFFF"/>
                </a:solidFill>
              </a:rPr>
              <a:t>0.91+</a:t>
            </a:r>
          </a:p>
        </p:txBody>
      </p:sp>
      <p:sp>
        <p:nvSpPr>
          <p:cNvPr id="28" name="Rectangle 27"/>
          <p:cNvSpPr/>
          <p:nvPr/>
        </p:nvSpPr>
        <p:spPr>
          <a:xfrm>
            <a:off x="8366760" y="1783080"/>
            <a:ext cx="1691639" cy="59436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8366760" y="1828800"/>
            <a:ext cx="1691639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2ECC71"/>
                </a:solidFill>
              </a:rPr>
              <a:t>~87%</a:t>
            </a:r>
          </a:p>
        </p:txBody>
      </p:sp>
      <p:sp>
        <p:nvSpPr>
          <p:cNvPr id="30" name="Rectangle 29"/>
          <p:cNvSpPr/>
          <p:nvPr/>
        </p:nvSpPr>
        <p:spPr>
          <a:xfrm>
            <a:off x="320040" y="2468880"/>
            <a:ext cx="1783080" cy="594360"/>
          </a:xfrm>
          <a:prstGeom prst="rect">
            <a:avLst/>
          </a:prstGeom>
          <a:solidFill>
            <a:srgbClr val="1E2D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320040" y="2514600"/>
            <a:ext cx="17830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🚗 Voitures</a:t>
            </a:r>
          </a:p>
        </p:txBody>
      </p:sp>
      <p:sp>
        <p:nvSpPr>
          <p:cNvPr id="32" name="Rectangle 31"/>
          <p:cNvSpPr/>
          <p:nvPr/>
        </p:nvSpPr>
        <p:spPr>
          <a:xfrm>
            <a:off x="2148840" y="2468880"/>
            <a:ext cx="1691639" cy="594360"/>
          </a:xfrm>
          <a:prstGeom prst="rect">
            <a:avLst/>
          </a:prstGeom>
          <a:solidFill>
            <a:srgbClr val="1E2D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2148840" y="2514600"/>
            <a:ext cx="1691639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FFFFFF"/>
                </a:solidFill>
              </a:rPr>
              <a:t>Random Forest</a:t>
            </a:r>
          </a:p>
        </p:txBody>
      </p:sp>
      <p:sp>
        <p:nvSpPr>
          <p:cNvPr id="34" name="Rectangle 33"/>
          <p:cNvSpPr/>
          <p:nvPr/>
        </p:nvSpPr>
        <p:spPr>
          <a:xfrm>
            <a:off x="3886200" y="2468880"/>
            <a:ext cx="1691639" cy="594360"/>
          </a:xfrm>
          <a:prstGeom prst="rect">
            <a:avLst/>
          </a:prstGeom>
          <a:solidFill>
            <a:srgbClr val="1E2D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3886200" y="2514600"/>
            <a:ext cx="1691639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FFFFFF"/>
                </a:solidFill>
              </a:rPr>
              <a:t>~3,200 MAD</a:t>
            </a:r>
          </a:p>
        </p:txBody>
      </p:sp>
      <p:sp>
        <p:nvSpPr>
          <p:cNvPr id="36" name="Rectangle 35"/>
          <p:cNvSpPr/>
          <p:nvPr/>
        </p:nvSpPr>
        <p:spPr>
          <a:xfrm>
            <a:off x="5623560" y="2468880"/>
            <a:ext cx="1508760" cy="594360"/>
          </a:xfrm>
          <a:prstGeom prst="rect">
            <a:avLst/>
          </a:prstGeom>
          <a:solidFill>
            <a:srgbClr val="1E2D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5623560" y="2514600"/>
            <a:ext cx="15087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FFFFFF"/>
                </a:solidFill>
              </a:rPr>
              <a:t>~5,100</a:t>
            </a:r>
          </a:p>
        </p:txBody>
      </p:sp>
      <p:sp>
        <p:nvSpPr>
          <p:cNvPr id="38" name="Rectangle 37"/>
          <p:cNvSpPr/>
          <p:nvPr/>
        </p:nvSpPr>
        <p:spPr>
          <a:xfrm>
            <a:off x="7178040" y="2468880"/>
            <a:ext cx="1143000" cy="594360"/>
          </a:xfrm>
          <a:prstGeom prst="rect">
            <a:avLst/>
          </a:prstGeom>
          <a:solidFill>
            <a:srgbClr val="1E2D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7178040" y="2514600"/>
            <a:ext cx="1143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FFFFFF"/>
                </a:solidFill>
              </a:rPr>
              <a:t>0.89+</a:t>
            </a:r>
          </a:p>
        </p:txBody>
      </p:sp>
      <p:sp>
        <p:nvSpPr>
          <p:cNvPr id="40" name="Rectangle 39"/>
          <p:cNvSpPr/>
          <p:nvPr/>
        </p:nvSpPr>
        <p:spPr>
          <a:xfrm>
            <a:off x="8366760" y="2468880"/>
            <a:ext cx="1691639" cy="594360"/>
          </a:xfrm>
          <a:prstGeom prst="rect">
            <a:avLst/>
          </a:prstGeom>
          <a:solidFill>
            <a:srgbClr val="1E2D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TextBox 40"/>
          <p:cNvSpPr txBox="1"/>
          <p:nvPr/>
        </p:nvSpPr>
        <p:spPr>
          <a:xfrm>
            <a:off x="8366760" y="2514600"/>
            <a:ext cx="1691639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2ECC71"/>
                </a:solidFill>
              </a:rPr>
              <a:t>~84%</a:t>
            </a:r>
          </a:p>
        </p:txBody>
      </p:sp>
      <p:sp>
        <p:nvSpPr>
          <p:cNvPr id="42" name="Rectangle 41"/>
          <p:cNvSpPr/>
          <p:nvPr/>
        </p:nvSpPr>
        <p:spPr>
          <a:xfrm>
            <a:off x="320040" y="3154680"/>
            <a:ext cx="1783080" cy="59436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TextBox 42"/>
          <p:cNvSpPr txBox="1"/>
          <p:nvPr/>
        </p:nvSpPr>
        <p:spPr>
          <a:xfrm>
            <a:off x="320040" y="3200400"/>
            <a:ext cx="17830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💻 Laptops</a:t>
            </a:r>
          </a:p>
        </p:txBody>
      </p:sp>
      <p:sp>
        <p:nvSpPr>
          <p:cNvPr id="44" name="Rectangle 43"/>
          <p:cNvSpPr/>
          <p:nvPr/>
        </p:nvSpPr>
        <p:spPr>
          <a:xfrm>
            <a:off x="2148840" y="3154680"/>
            <a:ext cx="1691639" cy="59436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TextBox 44"/>
          <p:cNvSpPr txBox="1"/>
          <p:nvPr/>
        </p:nvSpPr>
        <p:spPr>
          <a:xfrm>
            <a:off x="2148840" y="3200400"/>
            <a:ext cx="1691639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FFFFFF"/>
                </a:solidFill>
              </a:rPr>
              <a:t>XGBoost</a:t>
            </a:r>
          </a:p>
        </p:txBody>
      </p:sp>
      <p:sp>
        <p:nvSpPr>
          <p:cNvPr id="46" name="Rectangle 45"/>
          <p:cNvSpPr/>
          <p:nvPr/>
        </p:nvSpPr>
        <p:spPr>
          <a:xfrm>
            <a:off x="3886200" y="3154680"/>
            <a:ext cx="1691639" cy="59436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7" name="TextBox 46"/>
          <p:cNvSpPr txBox="1"/>
          <p:nvPr/>
        </p:nvSpPr>
        <p:spPr>
          <a:xfrm>
            <a:off x="3886200" y="3200400"/>
            <a:ext cx="1691639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FFFFFF"/>
                </a:solidFill>
              </a:rPr>
              <a:t>~1,100 MAD</a:t>
            </a:r>
          </a:p>
        </p:txBody>
      </p:sp>
      <p:sp>
        <p:nvSpPr>
          <p:cNvPr id="48" name="Rectangle 47"/>
          <p:cNvSpPr/>
          <p:nvPr/>
        </p:nvSpPr>
        <p:spPr>
          <a:xfrm>
            <a:off x="5623560" y="3154680"/>
            <a:ext cx="1508760" cy="59436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9" name="TextBox 48"/>
          <p:cNvSpPr txBox="1"/>
          <p:nvPr/>
        </p:nvSpPr>
        <p:spPr>
          <a:xfrm>
            <a:off x="5623560" y="3200400"/>
            <a:ext cx="15087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FFFFFF"/>
                </a:solidFill>
              </a:rPr>
              <a:t>~1,800</a:t>
            </a:r>
          </a:p>
        </p:txBody>
      </p:sp>
      <p:sp>
        <p:nvSpPr>
          <p:cNvPr id="50" name="Rectangle 49"/>
          <p:cNvSpPr/>
          <p:nvPr/>
        </p:nvSpPr>
        <p:spPr>
          <a:xfrm>
            <a:off x="7178040" y="3154680"/>
            <a:ext cx="1143000" cy="59436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1" name="TextBox 50"/>
          <p:cNvSpPr txBox="1"/>
          <p:nvPr/>
        </p:nvSpPr>
        <p:spPr>
          <a:xfrm>
            <a:off x="7178040" y="3200400"/>
            <a:ext cx="1143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FFFFFF"/>
                </a:solidFill>
              </a:rPr>
              <a:t>0.93+</a:t>
            </a:r>
          </a:p>
        </p:txBody>
      </p:sp>
      <p:sp>
        <p:nvSpPr>
          <p:cNvPr id="52" name="Rectangle 51"/>
          <p:cNvSpPr/>
          <p:nvPr/>
        </p:nvSpPr>
        <p:spPr>
          <a:xfrm>
            <a:off x="8366760" y="3154680"/>
            <a:ext cx="1691639" cy="59436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3" name="TextBox 52"/>
          <p:cNvSpPr txBox="1"/>
          <p:nvPr/>
        </p:nvSpPr>
        <p:spPr>
          <a:xfrm>
            <a:off x="8366760" y="3200400"/>
            <a:ext cx="1691639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2ECC71"/>
                </a:solidFill>
              </a:rPr>
              <a:t>~89%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365760" y="3931920"/>
            <a:ext cx="11430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1">
                <a:solidFill>
                  <a:srgbClr val="CCCCCC"/>
                </a:solidFill>
              </a:rPr>
              <a:t>💡  Le modèle XGBoost sur les laptops a obtenu les meilleures performances grâce à la richesse des features techniques (CPU, GPU, RAM, Storage)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2196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365760" y="13716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Stack Technologique</a:t>
            </a:r>
          </a:p>
        </p:txBody>
      </p:sp>
      <p:sp>
        <p:nvSpPr>
          <p:cNvPr id="4" name="Rectangle 3"/>
          <p:cNvSpPr/>
          <p:nvPr/>
        </p:nvSpPr>
        <p:spPr>
          <a:xfrm>
            <a:off x="365760" y="960120"/>
            <a:ext cx="11430000" cy="27432"/>
          </a:xfrm>
          <a:prstGeom prst="rect">
            <a:avLst/>
          </a:prstGeom>
          <a:solidFill>
            <a:srgbClr val="2196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320040" y="1234440"/>
            <a:ext cx="2743200" cy="1737360"/>
          </a:xfrm>
          <a:prstGeom prst="rect">
            <a:avLst/>
          </a:prstGeom>
          <a:solidFill>
            <a:srgbClr val="16213E"/>
          </a:solidFill>
          <a:ln w="19050">
            <a:solidFill>
              <a:srgbClr val="2196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411479" y="1325880"/>
            <a:ext cx="7315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 i="0">
                <a:solidFill>
                  <a:srgbClr val="FFFFFF"/>
                </a:solidFill>
              </a:rPr>
              <a:t>🐍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1325880"/>
            <a:ext cx="1737360" cy="2923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 dirty="0">
                <a:solidFill>
                  <a:srgbClr val="FFFFFF"/>
                </a:solidFill>
              </a:rPr>
              <a:t>Python 3.12</a:t>
            </a:r>
            <a:r>
              <a:rPr lang="en-US" sz="1300" b="1" i="0" dirty="0">
                <a:solidFill>
                  <a:srgbClr val="FFFFFF"/>
                </a:solidFill>
              </a:rPr>
              <a:t>/.14</a:t>
            </a:r>
            <a:endParaRPr sz="1300" b="1" i="0" dirty="0">
              <a:solidFill>
                <a:srgbClr val="FFFFFF"/>
              </a:solidFill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1097280" y="1737360"/>
            <a:ext cx="1737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CCCCCC"/>
                </a:solidFill>
              </a:rPr>
              <a:t>Langage principal</a:t>
            </a:r>
          </a:p>
        </p:txBody>
      </p:sp>
      <p:sp>
        <p:nvSpPr>
          <p:cNvPr id="9" name="Rectangle 8"/>
          <p:cNvSpPr/>
          <p:nvPr/>
        </p:nvSpPr>
        <p:spPr>
          <a:xfrm>
            <a:off x="320040" y="3337560"/>
            <a:ext cx="2743200" cy="1737360"/>
          </a:xfrm>
          <a:prstGeom prst="rect">
            <a:avLst/>
          </a:prstGeom>
          <a:solidFill>
            <a:srgbClr val="16213E"/>
          </a:solidFill>
          <a:ln w="19050">
            <a:solidFill>
              <a:srgbClr val="2196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411479" y="3429000"/>
            <a:ext cx="7315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 i="0">
                <a:solidFill>
                  <a:srgbClr val="FFFFFF"/>
                </a:solidFill>
              </a:rPr>
              <a:t>🐼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97280" y="3429000"/>
            <a:ext cx="17373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Pandas / NumPy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97280" y="3840480"/>
            <a:ext cx="1737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CCCCCC"/>
                </a:solidFill>
              </a:rPr>
              <a:t>ETL &amp; transformation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291840" y="1234440"/>
            <a:ext cx="2743200" cy="1737360"/>
          </a:xfrm>
          <a:prstGeom prst="rect">
            <a:avLst/>
          </a:prstGeom>
          <a:solidFill>
            <a:srgbClr val="16213E"/>
          </a:solidFill>
          <a:ln w="19050">
            <a:solidFill>
              <a:srgbClr val="2196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3383280" y="1325880"/>
            <a:ext cx="7315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 i="0">
                <a:solidFill>
                  <a:srgbClr val="FFFFFF"/>
                </a:solidFill>
              </a:rPr>
              <a:t>🌐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069080" y="1325880"/>
            <a:ext cx="17373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BeautifulSoup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069080" y="1737360"/>
            <a:ext cx="1737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CCCCCC"/>
                </a:solidFill>
              </a:rPr>
              <a:t>Scraping web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291840" y="3337560"/>
            <a:ext cx="2743200" cy="1737360"/>
          </a:xfrm>
          <a:prstGeom prst="rect">
            <a:avLst/>
          </a:prstGeom>
          <a:solidFill>
            <a:srgbClr val="16213E"/>
          </a:solidFill>
          <a:ln w="19050">
            <a:solidFill>
              <a:srgbClr val="2ECC7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3383280" y="3429000"/>
            <a:ext cx="7315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 i="0">
                <a:solidFill>
                  <a:srgbClr val="FFFFFF"/>
                </a:solidFill>
              </a:rPr>
              <a:t>🌲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069080" y="3429000"/>
            <a:ext cx="17373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Scikit-learn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069080" y="3840480"/>
            <a:ext cx="1737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CCCCCC"/>
                </a:solidFill>
              </a:rPr>
              <a:t>Random Forest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263640" y="1234440"/>
            <a:ext cx="2743200" cy="1737360"/>
          </a:xfrm>
          <a:prstGeom prst="rect">
            <a:avLst/>
          </a:prstGeom>
          <a:solidFill>
            <a:srgbClr val="16213E"/>
          </a:solidFill>
          <a:ln w="19050">
            <a:solidFill>
              <a:srgbClr val="E67E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6355079" y="1325880"/>
            <a:ext cx="7315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 i="0">
                <a:solidFill>
                  <a:srgbClr val="FFFFFF"/>
                </a:solidFill>
              </a:rPr>
              <a:t>⚡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040879" y="1325880"/>
            <a:ext cx="17373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XGBoost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040879" y="1737360"/>
            <a:ext cx="1737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CCCCCC"/>
                </a:solidFill>
              </a:rPr>
              <a:t>Gradient Boosting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263640" y="3337560"/>
            <a:ext cx="2743200" cy="1737360"/>
          </a:xfrm>
          <a:prstGeom prst="rect">
            <a:avLst/>
          </a:prstGeom>
          <a:solidFill>
            <a:srgbClr val="16213E"/>
          </a:solidFill>
          <a:ln w="19050">
            <a:solidFill>
              <a:srgbClr val="F1C40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6355079" y="3429000"/>
            <a:ext cx="7315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 i="0">
                <a:solidFill>
                  <a:srgbClr val="FFFFFF"/>
                </a:solidFill>
              </a:rPr>
              <a:t>📊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040879" y="3429000"/>
            <a:ext cx="17373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Power BI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040879" y="3840480"/>
            <a:ext cx="1737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CCCCCC"/>
                </a:solidFill>
              </a:rPr>
              <a:t>Dashboard interactif</a:t>
            </a:r>
          </a:p>
        </p:txBody>
      </p:sp>
      <p:sp>
        <p:nvSpPr>
          <p:cNvPr id="29" name="Rectangle 28"/>
          <p:cNvSpPr/>
          <p:nvPr/>
        </p:nvSpPr>
        <p:spPr>
          <a:xfrm>
            <a:off x="9235440" y="1234440"/>
            <a:ext cx="2743200" cy="1737360"/>
          </a:xfrm>
          <a:prstGeom prst="rect">
            <a:avLst/>
          </a:prstGeom>
          <a:solidFill>
            <a:srgbClr val="16213E"/>
          </a:solidFill>
          <a:ln w="190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9326880" y="1325880"/>
            <a:ext cx="7315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 i="0">
                <a:solidFill>
                  <a:srgbClr val="FFFFFF"/>
                </a:solidFill>
              </a:rPr>
              <a:t>💾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0012680" y="1325880"/>
            <a:ext cx="17373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Joblib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012680" y="1737360"/>
            <a:ext cx="1737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CCCCCC"/>
                </a:solidFill>
              </a:rPr>
              <a:t>Sérialisation modèles</a:t>
            </a:r>
          </a:p>
        </p:txBody>
      </p:sp>
      <p:sp>
        <p:nvSpPr>
          <p:cNvPr id="33" name="Rectangle 32"/>
          <p:cNvSpPr/>
          <p:nvPr/>
        </p:nvSpPr>
        <p:spPr>
          <a:xfrm>
            <a:off x="9235440" y="3337560"/>
            <a:ext cx="2743200" cy="1737360"/>
          </a:xfrm>
          <a:prstGeom prst="rect">
            <a:avLst/>
          </a:prstGeom>
          <a:solidFill>
            <a:srgbClr val="16213E"/>
          </a:solidFill>
          <a:ln w="190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9326880" y="3429000"/>
            <a:ext cx="7315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 i="0">
                <a:solidFill>
                  <a:srgbClr val="FFFFFF"/>
                </a:solidFill>
              </a:rPr>
              <a:t>🐙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0012680" y="3429000"/>
            <a:ext cx="17373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Git / GitHub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0012680" y="3840480"/>
            <a:ext cx="1737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CCCCCC"/>
                </a:solidFill>
              </a:rPr>
              <a:t>Versioning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2196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365760" y="13716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Conclusion &amp; Perspectives</a:t>
            </a:r>
          </a:p>
        </p:txBody>
      </p:sp>
      <p:sp>
        <p:nvSpPr>
          <p:cNvPr id="4" name="Rectangle 3"/>
          <p:cNvSpPr/>
          <p:nvPr/>
        </p:nvSpPr>
        <p:spPr>
          <a:xfrm>
            <a:off x="365760" y="960120"/>
            <a:ext cx="11430000" cy="27432"/>
          </a:xfrm>
          <a:prstGeom prst="rect">
            <a:avLst/>
          </a:prstGeom>
          <a:solidFill>
            <a:srgbClr val="2196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365760" y="1188720"/>
            <a:ext cx="5394960" cy="4572000"/>
          </a:xfrm>
          <a:prstGeom prst="rect">
            <a:avLst/>
          </a:prstGeom>
          <a:solidFill>
            <a:srgbClr val="16213E"/>
          </a:solidFill>
          <a:ln w="19050">
            <a:solidFill>
              <a:srgbClr val="E74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48640" y="1261872"/>
            <a:ext cx="5029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E74C3C"/>
                </a:solidFill>
              </a:rPr>
              <a:t>⚠️  Limites Actuelles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4506616"/>
            <a:ext cx="50292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i="0" dirty="0">
                <a:solidFill>
                  <a:srgbClr val="FFFFFF"/>
                </a:solidFill>
              </a:rPr>
              <a:t>▸  Données </a:t>
            </a:r>
            <a:r>
              <a:rPr b="0" i="0" dirty="0" err="1">
                <a:solidFill>
                  <a:srgbClr val="FFFFFF"/>
                </a:solidFill>
              </a:rPr>
              <a:t>simulées</a:t>
            </a:r>
            <a:r>
              <a:rPr b="0" i="0" dirty="0">
                <a:solidFill>
                  <a:srgbClr val="FFFFFF"/>
                </a:solidFill>
              </a:rPr>
              <a:t> — pas de </a:t>
            </a:r>
            <a:r>
              <a:rPr b="0" i="0" dirty="0" err="1">
                <a:solidFill>
                  <a:srgbClr val="FFFFFF"/>
                </a:solidFill>
              </a:rPr>
              <a:t>vraies</a:t>
            </a:r>
            <a:r>
              <a:rPr b="0" i="0" dirty="0">
                <a:solidFill>
                  <a:srgbClr val="FFFFFF"/>
                </a:solidFill>
              </a:rPr>
              <a:t> données ADII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2167128"/>
            <a:ext cx="50292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0" i="0" dirty="0">
                <a:solidFill>
                  <a:srgbClr val="FFFFFF"/>
                </a:solidFill>
              </a:rPr>
              <a:t>▸  Prix </a:t>
            </a:r>
            <a:r>
              <a:rPr b="0" i="0" dirty="0" err="1">
                <a:solidFill>
                  <a:srgbClr val="FFFFFF"/>
                </a:solidFill>
              </a:rPr>
              <a:t>marché</a:t>
            </a:r>
            <a:r>
              <a:rPr b="0" i="0" dirty="0">
                <a:solidFill>
                  <a:srgbClr val="FFFFFF"/>
                </a:solidFill>
              </a:rPr>
              <a:t> </a:t>
            </a:r>
            <a:r>
              <a:rPr b="0" i="0" dirty="0" err="1">
                <a:solidFill>
                  <a:srgbClr val="FFFFFF"/>
                </a:solidFill>
              </a:rPr>
              <a:t>fluctuent</a:t>
            </a:r>
            <a:r>
              <a:rPr b="0" i="0" dirty="0">
                <a:solidFill>
                  <a:srgbClr val="FFFFFF"/>
                </a:solidFill>
              </a:rPr>
              <a:t> — </a:t>
            </a:r>
            <a:r>
              <a:rPr b="0" i="0" dirty="0" err="1">
                <a:solidFill>
                  <a:srgbClr val="FFFFFF"/>
                </a:solidFill>
              </a:rPr>
              <a:t>besoin</a:t>
            </a:r>
            <a:r>
              <a:rPr b="0" i="0" dirty="0">
                <a:solidFill>
                  <a:srgbClr val="FFFFFF"/>
                </a:solidFill>
              </a:rPr>
              <a:t> de mise</a:t>
            </a:r>
            <a:r>
              <a:rPr lang="en-US" b="0" i="0" dirty="0">
                <a:solidFill>
                  <a:srgbClr val="FFFFFF"/>
                </a:solidFill>
              </a:rPr>
              <a:t> </a:t>
            </a:r>
            <a:r>
              <a:rPr lang="fr-FR" dirty="0">
                <a:solidFill>
                  <a:srgbClr val="FFFFFF"/>
                </a:solidFill>
              </a:rPr>
              <a:t>à jour automatique du pipeline</a:t>
            </a:r>
            <a:endParaRPr b="0" i="0" dirty="0">
              <a:solidFill>
                <a:srgbClr val="FFFFFF"/>
              </a:solidFill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7369770" y="-34357"/>
            <a:ext cx="502920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 dirty="0">
                <a:solidFill>
                  <a:srgbClr val="FFFFFF"/>
                </a:solidFill>
              </a:rPr>
              <a:t>      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75945" y="3336872"/>
            <a:ext cx="50292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0" i="0" dirty="0">
                <a:solidFill>
                  <a:srgbClr val="FFFFFF"/>
                </a:solidFill>
              </a:rPr>
              <a:t>▸  Variations </a:t>
            </a:r>
            <a:r>
              <a:rPr b="0" i="0" dirty="0" err="1">
                <a:solidFill>
                  <a:srgbClr val="FFFFFF"/>
                </a:solidFill>
              </a:rPr>
              <a:t>régionales</a:t>
            </a:r>
            <a:r>
              <a:rPr b="0" i="0" dirty="0">
                <a:solidFill>
                  <a:srgbClr val="FFFFFF"/>
                </a:solidFill>
              </a:rPr>
              <a:t> de prix non </a:t>
            </a:r>
            <a:r>
              <a:rPr b="0" i="0" dirty="0" err="1">
                <a:solidFill>
                  <a:srgbClr val="FFFFFF"/>
                </a:solidFill>
              </a:rPr>
              <a:t>prises</a:t>
            </a:r>
            <a:r>
              <a:rPr lang="en-US" dirty="0">
                <a:solidFill>
                  <a:srgbClr val="FFFFFF"/>
                </a:solidFill>
              </a:rPr>
              <a:t> </a:t>
            </a:r>
            <a:r>
              <a:rPr lang="en-US" dirty="0" err="1">
                <a:solidFill>
                  <a:srgbClr val="FFFFFF"/>
                </a:solidFill>
              </a:rPr>
              <a:t>en</a:t>
            </a:r>
            <a:r>
              <a:rPr lang="en-US" dirty="0">
                <a:solidFill>
                  <a:srgbClr val="FFFFFF"/>
                </a:solidFill>
              </a:rPr>
              <a:t> compte.</a:t>
            </a:r>
            <a:endParaRPr b="0" i="0" dirty="0">
              <a:solidFill>
                <a:srgbClr val="FFFFFF"/>
              </a:solidFill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6917487" y="289787"/>
            <a:ext cx="502920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 dirty="0">
                <a:solidFill>
                  <a:srgbClr val="FFFFFF"/>
                </a:solidFill>
              </a:rPr>
              <a:t>      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400800" y="1188720"/>
            <a:ext cx="5394960" cy="4572000"/>
          </a:xfrm>
          <a:prstGeom prst="rect">
            <a:avLst/>
          </a:prstGeom>
          <a:solidFill>
            <a:srgbClr val="16213E"/>
          </a:solidFill>
          <a:ln w="19050">
            <a:solidFill>
              <a:srgbClr val="2ECC7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6583680" y="1261872"/>
            <a:ext cx="5029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 dirty="0">
                <a:solidFill>
                  <a:srgbClr val="2ECC71"/>
                </a:solidFill>
              </a:rPr>
              <a:t>🚀  Perspectives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83680" y="1900410"/>
            <a:ext cx="50292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0" i="0" dirty="0">
                <a:solidFill>
                  <a:srgbClr val="FFFFFF"/>
                </a:solidFill>
              </a:rPr>
              <a:t>▸  API REST pour interrogation temps r</a:t>
            </a:r>
            <a:r>
              <a:rPr lang="en-US" b="0" i="0" dirty="0">
                <a:solidFill>
                  <a:srgbClr val="FFFFFF"/>
                </a:solidFill>
              </a:rPr>
              <a:t>e</a:t>
            </a:r>
            <a:r>
              <a:rPr b="0" i="0" dirty="0">
                <a:solidFill>
                  <a:srgbClr val="FFFFFF"/>
                </a:solidFill>
              </a:rPr>
              <a:t>el</a:t>
            </a:r>
            <a:r>
              <a:rPr lang="en-US" dirty="0">
                <a:solidFill>
                  <a:srgbClr val="FFFFFF"/>
                </a:solidFill>
              </a:rPr>
              <a:t> </a:t>
            </a:r>
            <a:r>
              <a:rPr lang="en-US" dirty="0" err="1">
                <a:solidFill>
                  <a:srgbClr val="FFFFFF"/>
                </a:solidFill>
              </a:rPr>
              <a:t>depuis</a:t>
            </a:r>
            <a:r>
              <a:rPr lang="en-US" dirty="0">
                <a:solidFill>
                  <a:srgbClr val="FFFFFF"/>
                </a:solidFill>
              </a:rPr>
              <a:t> </a:t>
            </a:r>
            <a:r>
              <a:rPr lang="en-US" dirty="0" err="1">
                <a:solidFill>
                  <a:srgbClr val="FFFFFF"/>
                </a:solidFill>
              </a:rPr>
              <a:t>postes</a:t>
            </a:r>
            <a:r>
              <a:rPr lang="en-US" dirty="0">
                <a:solidFill>
                  <a:srgbClr val="FFFFFF"/>
                </a:solidFill>
              </a:rPr>
              <a:t> douaniers</a:t>
            </a:r>
            <a:endParaRPr b="0" i="0" dirty="0">
              <a:solidFill>
                <a:srgbClr val="FFFFFF"/>
              </a:solidFill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6583680" y="3076922"/>
            <a:ext cx="50292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i="0" dirty="0">
                <a:solidFill>
                  <a:srgbClr val="FFFFFF"/>
                </a:solidFill>
              </a:rPr>
              <a:t>▸  Extension : </a:t>
            </a:r>
            <a:r>
              <a:rPr b="0" i="0" dirty="0" err="1">
                <a:solidFill>
                  <a:srgbClr val="FFFFFF"/>
                </a:solidFill>
              </a:rPr>
              <a:t>électroménager</a:t>
            </a:r>
            <a:r>
              <a:rPr b="0" i="0" dirty="0">
                <a:solidFill>
                  <a:srgbClr val="FFFFFF"/>
                </a:solidFill>
              </a:rPr>
              <a:t>, </a:t>
            </a:r>
            <a:r>
              <a:rPr b="0" i="0" dirty="0" err="1">
                <a:solidFill>
                  <a:srgbClr val="FFFFFF"/>
                </a:solidFill>
              </a:rPr>
              <a:t>industrie</a:t>
            </a:r>
            <a:endParaRPr b="0" i="0" dirty="0">
              <a:solidFill>
                <a:srgbClr val="FFFFFF"/>
              </a:solidFill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6583680" y="3976435"/>
            <a:ext cx="50292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i="0" dirty="0">
                <a:solidFill>
                  <a:srgbClr val="FFFFFF"/>
                </a:solidFill>
              </a:rPr>
              <a:t>▸  </a:t>
            </a:r>
            <a:r>
              <a:rPr b="0" i="0" dirty="0" err="1">
                <a:solidFill>
                  <a:srgbClr val="FFFFFF"/>
                </a:solidFill>
              </a:rPr>
              <a:t>Déploiement</a:t>
            </a:r>
            <a:r>
              <a:rPr b="0" i="0" dirty="0">
                <a:solidFill>
                  <a:srgbClr val="FFFFFF"/>
                </a:solidFill>
              </a:rPr>
              <a:t> cloud Azure — </a:t>
            </a:r>
            <a:r>
              <a:rPr b="0" i="0" dirty="0" err="1">
                <a:solidFill>
                  <a:srgbClr val="FFFFFF"/>
                </a:solidFill>
              </a:rPr>
              <a:t>scalabilité</a:t>
            </a:r>
            <a:r>
              <a:rPr lang="en-US" b="0" i="0" dirty="0">
                <a:solidFill>
                  <a:srgbClr val="FFFFFF"/>
                </a:solidFill>
              </a:rPr>
              <a:t> </a:t>
            </a:r>
            <a:r>
              <a:rPr lang="en-US" b="0" i="0" dirty="0" err="1">
                <a:solidFill>
                  <a:srgbClr val="FFFFFF"/>
                </a:solidFill>
              </a:rPr>
              <a:t>nationale</a:t>
            </a:r>
            <a:endParaRPr b="0" i="0" dirty="0">
              <a:solidFill>
                <a:srgbClr val="FFFFFF"/>
              </a:solidFill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6583680" y="4875948"/>
            <a:ext cx="50292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i="0" dirty="0">
                <a:solidFill>
                  <a:srgbClr val="FFFFFF"/>
                </a:solidFill>
              </a:rPr>
              <a:t>▸  Deep Learning pour </a:t>
            </a:r>
            <a:r>
              <a:rPr b="0" i="0" dirty="0" err="1">
                <a:solidFill>
                  <a:srgbClr val="FFFFFF"/>
                </a:solidFill>
              </a:rPr>
              <a:t>améliorer</a:t>
            </a:r>
            <a:r>
              <a:rPr b="0" i="0" dirty="0">
                <a:solidFill>
                  <a:srgbClr val="FFFFFF"/>
                </a:solidFill>
              </a:rPr>
              <a:t> la </a:t>
            </a:r>
            <a:r>
              <a:rPr b="0" i="0" dirty="0" err="1">
                <a:solidFill>
                  <a:srgbClr val="FFFFFF"/>
                </a:solidFill>
              </a:rPr>
              <a:t>précision</a:t>
            </a:r>
            <a:endParaRPr b="0" i="0" dirty="0">
              <a:solidFill>
                <a:srgbClr val="FFFFFF"/>
              </a:solidFill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109728"/>
          </a:xfrm>
          <a:prstGeom prst="rect">
            <a:avLst/>
          </a:prstGeom>
          <a:solidFill>
            <a:srgbClr val="2196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6748272"/>
            <a:ext cx="12188952" cy="109728"/>
          </a:xfrm>
          <a:prstGeom prst="rect">
            <a:avLst/>
          </a:prstGeom>
          <a:solidFill>
            <a:srgbClr val="2196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57200" y="1645920"/>
            <a:ext cx="112471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000" b="1" i="0">
                <a:solidFill>
                  <a:srgbClr val="FFFFFF"/>
                </a:solidFill>
              </a:rPr>
              <a:t>Merci pour votre attention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0" y="2606040"/>
            <a:ext cx="4846320" cy="54864"/>
          </a:xfrm>
          <a:prstGeom prst="rect">
            <a:avLst/>
          </a:prstGeom>
          <a:solidFill>
            <a:srgbClr val="2196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457200" y="2834640"/>
            <a:ext cx="11247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 i="1">
                <a:solidFill>
                  <a:srgbClr val="CCCCCC"/>
                </a:solidFill>
              </a:rPr>
              <a:t>Questions &amp; Discussion</a:t>
            </a:r>
          </a:p>
        </p:txBody>
      </p:sp>
      <p:sp>
        <p:nvSpPr>
          <p:cNvPr id="7" name="Rectangle 6"/>
          <p:cNvSpPr/>
          <p:nvPr/>
        </p:nvSpPr>
        <p:spPr>
          <a:xfrm>
            <a:off x="1097280" y="3840480"/>
            <a:ext cx="3108960" cy="1005840"/>
          </a:xfrm>
          <a:prstGeom prst="rect">
            <a:avLst/>
          </a:prstGeom>
          <a:solidFill>
            <a:srgbClr val="16213E"/>
          </a:solidFill>
          <a:ln w="12700">
            <a:solidFill>
              <a:srgbClr val="2196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188720" y="3913632"/>
            <a:ext cx="2926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1">
                <a:solidFill>
                  <a:srgbClr val="CCCCCC"/>
                </a:solidFill>
              </a:rPr>
              <a:t>👤  Réalisé par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88720" y="4251960"/>
            <a:ext cx="29260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Mohammed Amine HAMOUTTI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0" y="3840480"/>
            <a:ext cx="3108960" cy="1005840"/>
          </a:xfrm>
          <a:prstGeom prst="rect">
            <a:avLst/>
          </a:prstGeom>
          <a:solidFill>
            <a:srgbClr val="16213E"/>
          </a:solidFill>
          <a:ln w="12700">
            <a:solidFill>
              <a:srgbClr val="2196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4663440" y="3913632"/>
            <a:ext cx="2926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1">
                <a:solidFill>
                  <a:srgbClr val="CCCCCC"/>
                </a:solidFill>
              </a:rPr>
              <a:t>🎓  Encadré par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663440" y="4251960"/>
            <a:ext cx="29260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Yassine AMMAMI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046719" y="3840480"/>
            <a:ext cx="3108960" cy="1005840"/>
          </a:xfrm>
          <a:prstGeom prst="rect">
            <a:avLst/>
          </a:prstGeom>
          <a:solidFill>
            <a:srgbClr val="16213E"/>
          </a:solidFill>
          <a:ln w="12700">
            <a:solidFill>
              <a:srgbClr val="2196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8138159" y="3913632"/>
            <a:ext cx="2926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1">
                <a:solidFill>
                  <a:srgbClr val="CCCCCC"/>
                </a:solidFill>
              </a:rPr>
              <a:t>🐙  GitHub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138159" y="4251960"/>
            <a:ext cx="29260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notNAKAZAKi-ctrl/Diouan-Tech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24</TotalTime>
  <Words>893</Words>
  <Application>Microsoft Office PowerPoint</Application>
  <PresentationFormat>Custom</PresentationFormat>
  <Paragraphs>242</Paragraphs>
  <Slides>14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Amine Hamoutti</cp:lastModifiedBy>
  <cp:revision>2</cp:revision>
  <dcterms:created xsi:type="dcterms:W3CDTF">2013-01-27T09:14:16Z</dcterms:created>
  <dcterms:modified xsi:type="dcterms:W3CDTF">2026-03-29T18:19:14Z</dcterms:modified>
  <cp:category/>
</cp:coreProperties>
</file>