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CC"/>
    <a:srgbClr val="00D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F0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FF0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1252" y="1405696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0" b="1" i="0">
                <a:solidFill>
                  <a:srgbClr val="00D9FF"/>
                </a:solidFill>
              </a:rPr>
              <a:t>🛃 DIOUAN-TECH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852" y="289121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Système Intelligent de Détection de Fraude Douanière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4077450"/>
            <a:ext cx="5760720" cy="36576"/>
          </a:xfrm>
          <a:prstGeom prst="rect">
            <a:avLst/>
          </a:prstGeom>
          <a:solidFill>
            <a:srgbClr val="FF0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0580" y="4503033"/>
            <a:ext cx="112471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1" dirty="0">
                <a:solidFill>
                  <a:srgbClr val="B0B8CC"/>
                </a:solidFill>
              </a:rPr>
              <a:t>Auto &amp; Tech </a:t>
            </a:r>
            <a:r>
              <a:rPr lang="en-US" i="1" dirty="0">
                <a:solidFill>
                  <a:srgbClr val="B0B8CC"/>
                </a:solidFill>
              </a:rPr>
              <a:t>: </a:t>
            </a:r>
            <a:r>
              <a:rPr sz="1800" b="0" i="1" dirty="0">
                <a:solidFill>
                  <a:srgbClr val="B0B8CC"/>
                </a:solidFill>
              </a:rPr>
              <a:t>Dashboard </a:t>
            </a:r>
            <a:r>
              <a:rPr sz="1800" b="0" i="1" dirty="0" err="1">
                <a:solidFill>
                  <a:srgbClr val="B0B8CC"/>
                </a:solidFill>
              </a:rPr>
              <a:t>d'Analyse</a:t>
            </a:r>
            <a:r>
              <a:rPr sz="1800" b="0" i="1" dirty="0">
                <a:solidFill>
                  <a:srgbClr val="B0B8CC"/>
                </a:solidFill>
              </a:rPr>
              <a:t> des </a:t>
            </a:r>
            <a:r>
              <a:rPr sz="1800" b="0" i="1" dirty="0" err="1">
                <a:solidFill>
                  <a:srgbClr val="B0B8CC"/>
                </a:solidFill>
              </a:rPr>
              <a:t>Déclarations</a:t>
            </a:r>
            <a:r>
              <a:rPr sz="1800" b="0" i="1" dirty="0">
                <a:solidFill>
                  <a:srgbClr val="B0B8CC"/>
                </a:solidFill>
              </a:rPr>
              <a:t> </a:t>
            </a:r>
            <a:r>
              <a:rPr sz="1800" b="0" i="1" dirty="0" err="1">
                <a:solidFill>
                  <a:srgbClr val="B0B8CC"/>
                </a:solidFill>
              </a:rPr>
              <a:t>Douanières</a:t>
            </a:r>
            <a:endParaRPr sz="1800" b="0" i="1" dirty="0">
              <a:solidFill>
                <a:srgbClr val="B0B8CC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310908" y="5349240"/>
            <a:ext cx="3657600" cy="1097280"/>
          </a:xfrm>
          <a:prstGeom prst="rect">
            <a:avLst/>
          </a:prstGeom>
          <a:solidFill>
            <a:srgbClr val="1A1A3E"/>
          </a:solidFill>
          <a:ln w="254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1" y="542925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0D9FF"/>
                </a:solidFill>
              </a:rPr>
              <a:t>👤 Réalisé par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0911" y="5612517"/>
            <a:ext cx="384466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</a:rPr>
              <a:t>Mohammed Amine</a:t>
            </a:r>
            <a:r>
              <a:rPr lang="en-US" sz="2000" b="1" i="0" dirty="0">
                <a:solidFill>
                  <a:srgbClr val="FFFFFF"/>
                </a:solidFill>
              </a:rPr>
              <a:t>
HAMOUTTI</a:t>
            </a:r>
            <a:endParaRPr sz="2000" b="1" i="0" dirty="0">
              <a:solidFill>
                <a:srgbClr val="FFFFFF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220317" y="5360670"/>
            <a:ext cx="3657600" cy="1097280"/>
          </a:xfrm>
          <a:prstGeom prst="rect">
            <a:avLst/>
          </a:prstGeom>
          <a:solidFill>
            <a:srgbClr val="1A1A3E"/>
          </a:solidFill>
          <a:ln w="254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0317" y="542925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0D9FF"/>
                </a:solidFill>
              </a:rPr>
              <a:t>🎓 Encadré par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F1884995-1510-8A95-A652-7623B447D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1509" y="5722299"/>
            <a:ext cx="458149" cy="458149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3D1A090F-FB33-76F4-2A89-5B44FE0CBFD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86737" y="5722299"/>
            <a:ext cx="1710833" cy="4883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 dirty="0">
                <a:solidFill>
                  <a:srgbClr val="00D9FF"/>
                </a:solidFill>
              </a:rPr>
              <a:t>Le </a:t>
            </a:r>
            <a:r>
              <a:rPr sz="4000" b="1" i="0" dirty="0" err="1">
                <a:solidFill>
                  <a:srgbClr val="00D9FF"/>
                </a:solidFill>
              </a:rPr>
              <a:t>Problème</a:t>
            </a:r>
            <a:r>
              <a:rPr sz="4000" b="1" i="0" dirty="0">
                <a:solidFill>
                  <a:srgbClr val="00D9FF"/>
                </a:solidFill>
              </a:rPr>
              <a:t> Douanier Marocain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688" y="1970848"/>
            <a:ext cx="11656143" cy="3785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3000" b="0" i="0" dirty="0">
                <a:solidFill>
                  <a:srgbClr val="FFFFFF"/>
                </a:solidFill>
                <a:latin typeface="Imprint MT Shadow" panose="04020605060303030202" pitchFamily="82" charset="0"/>
              </a:rPr>
              <a:t> Les </a:t>
            </a:r>
            <a:r>
              <a:rPr sz="3000" b="0" i="0" dirty="0" err="1">
                <a:solidFill>
                  <a:srgbClr val="FFFFFF"/>
                </a:solidFill>
                <a:latin typeface="Imprint MT Shadow" panose="04020605060303030202" pitchFamily="82" charset="0"/>
              </a:rPr>
              <a:t>importateurs</a:t>
            </a:r>
            <a:r>
              <a:rPr sz="3000" b="0" i="0" dirty="0">
                <a:solidFill>
                  <a:srgbClr val="FFFFFF"/>
                </a:solidFill>
                <a:latin typeface="Imprint MT Shadow" panose="04020605060303030202" pitchFamily="82" charset="0"/>
              </a:rPr>
              <a:t> </a:t>
            </a:r>
            <a:r>
              <a:rPr sz="3000" b="0" i="0" dirty="0" err="1">
                <a:solidFill>
                  <a:srgbClr val="FFFFFF"/>
                </a:solidFill>
                <a:latin typeface="Imprint MT Shadow" panose="04020605060303030202" pitchFamily="82" charset="0"/>
              </a:rPr>
              <a:t>déclarent</a:t>
            </a:r>
            <a:r>
              <a:rPr sz="3000" b="0" i="0" dirty="0">
                <a:solidFill>
                  <a:srgbClr val="FFFFFF"/>
                </a:solidFill>
                <a:latin typeface="Imprint MT Shadow" panose="04020605060303030202" pitchFamily="82" charset="0"/>
              </a:rPr>
              <a:t> des prix </a:t>
            </a:r>
            <a:r>
              <a:rPr sz="3000" b="0" i="0" dirty="0" err="1">
                <a:solidFill>
                  <a:srgbClr val="FFFFFF"/>
                </a:solidFill>
                <a:latin typeface="Imprint MT Shadow" panose="04020605060303030202" pitchFamily="82" charset="0"/>
              </a:rPr>
              <a:t>artificiellement</a:t>
            </a:r>
            <a:r>
              <a:rPr sz="3000" b="0" i="0" dirty="0">
                <a:solidFill>
                  <a:srgbClr val="FFFFFF"/>
                </a:solidFill>
                <a:latin typeface="Imprint MT Shadow" panose="04020605060303030202" pitchFamily="82" charset="0"/>
              </a:rPr>
              <a:t> bas</a:t>
            </a:r>
            <a:r>
              <a:rPr lang="en-US" sz="3000" b="0" i="0" dirty="0">
                <a:solidFill>
                  <a:srgbClr val="FFFFFF"/>
                </a:solidFill>
                <a:latin typeface="Imprint MT Shadow" panose="04020605060303030202" pitchFamily="82" charset="0"/>
              </a:rPr>
              <a:t> </a:t>
            </a:r>
            <a:r>
              <a:rPr lang="en-US" sz="3000" b="0" i="0" dirty="0" err="1">
                <a:solidFill>
                  <a:srgbClr val="FFFFFF"/>
                </a:solidFill>
                <a:latin typeface="Imprint MT Shadow" panose="04020605060303030202" pitchFamily="82" charset="0"/>
              </a:rPr>
              <a:t>ou</a:t>
            </a:r>
            <a:r>
              <a:rPr lang="en-US" sz="3000" b="0" i="0" dirty="0">
                <a:solidFill>
                  <a:srgbClr val="FFFFFF"/>
                </a:solidFill>
                <a:latin typeface="Imprint MT Shadow" panose="04020605060303030202" pitchFamily="82" charset="0"/>
              </a:rPr>
              <a:t> </a:t>
            </a:r>
            <a:r>
              <a:rPr lang="en-US" sz="3000" b="0" i="0" dirty="0" err="1">
                <a:solidFill>
                  <a:srgbClr val="FFFFFF"/>
                </a:solidFill>
                <a:latin typeface="Imprint MT Shadow" panose="04020605060303030202" pitchFamily="82" charset="0"/>
              </a:rPr>
              <a:t>élevée</a:t>
            </a:r>
            <a:endParaRPr lang="en-US" sz="3000" b="0" i="0" dirty="0">
              <a:solidFill>
                <a:srgbClr val="FFFFFF"/>
              </a:solidFill>
              <a:latin typeface="Imprint MT Shadow" panose="04020605060303030202" pitchFamily="82" charset="0"/>
            </a:endParaRPr>
          </a:p>
          <a:p>
            <a:pPr algn="l"/>
            <a:endParaRPr lang="en-US" sz="3000" b="0" i="0" dirty="0">
              <a:solidFill>
                <a:srgbClr val="FFFFFF"/>
              </a:solidFill>
              <a:latin typeface="Imprint MT Shadow" panose="04020605060303030202" pitchFamily="8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000" dirty="0">
                <a:solidFill>
                  <a:srgbClr val="FFFFFF"/>
                </a:solidFill>
                <a:latin typeface="Imprint MT Shadow" panose="04020605060303030202" pitchFamily="82" charset="0"/>
              </a:rPr>
              <a:t> Perte fiscale massive pour l'État marocain chaque année</a:t>
            </a:r>
          </a:p>
          <a:p>
            <a:endParaRPr lang="fr-FR" sz="3000" dirty="0">
              <a:solidFill>
                <a:srgbClr val="FFFFFF"/>
              </a:solidFill>
              <a:latin typeface="Imprint MT Shadow" panose="04020605060303030202" pitchFamily="8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000" dirty="0">
                <a:solidFill>
                  <a:srgbClr val="FFFFFF"/>
                </a:solidFill>
                <a:latin typeface="Imprint MT Shadow" panose="04020605060303030202" pitchFamily="82" charset="0"/>
              </a:rPr>
              <a:t> Inspecteurs sans outils automatisés et contrôle manuel et inefficace</a:t>
            </a:r>
          </a:p>
          <a:p>
            <a:endParaRPr lang="fr-FR" sz="3000" dirty="0">
              <a:solidFill>
                <a:srgbClr val="FFFFFF"/>
              </a:solidFill>
              <a:latin typeface="Imprint MT Shadow" panose="04020605060303030202" pitchFamily="8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000" dirty="0">
                <a:solidFill>
                  <a:srgbClr val="FFFFFF"/>
                </a:solidFill>
                <a:latin typeface="Imprint MT Shadow" panose="04020605060303030202" pitchFamily="82" charset="0"/>
              </a:rPr>
              <a:t> Bases de prix obsolètes (Argus) ne reflètent pas le marché marocain réel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602AC9-2C2F-9A72-3D32-8189DB1846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643597" y="-87153"/>
            <a:ext cx="2545355" cy="18202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0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 dirty="0">
                <a:solidFill>
                  <a:srgbClr val="FF0088"/>
                </a:solidFill>
              </a:rPr>
              <a:t>Notre Solution </a:t>
            </a:r>
            <a:r>
              <a:rPr lang="en-US" sz="4000" b="1" i="0" dirty="0">
                <a:solidFill>
                  <a:srgbClr val="FF0088"/>
                </a:solidFill>
              </a:rPr>
              <a:t>        :  </a:t>
            </a:r>
            <a:r>
              <a:rPr sz="4000" b="1" i="0" dirty="0">
                <a:solidFill>
                  <a:srgbClr val="FF0088"/>
                </a:solidFill>
              </a:rPr>
              <a:t> </a:t>
            </a:r>
            <a:r>
              <a:rPr sz="4000" b="1" i="0" dirty="0" err="1">
                <a:solidFill>
                  <a:srgbClr val="FF0088"/>
                </a:solidFill>
              </a:rPr>
              <a:t>Diouan</a:t>
            </a:r>
            <a:r>
              <a:rPr sz="4000" b="1" i="0" dirty="0">
                <a:solidFill>
                  <a:srgbClr val="FF0088"/>
                </a:solidFill>
              </a:rPr>
              <a:t>-Tech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09316"/>
            <a:ext cx="105156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Imprint MT Shadow" panose="04020605060303030202" pitchFamily="82" charset="0"/>
              </a:rPr>
              <a:t>1️⃣  Scrape les prix réels du marché marocain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97742" y="1779507"/>
            <a:ext cx="98755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i="1" dirty="0">
                <a:solidFill>
                  <a:srgbClr val="FF0088"/>
                </a:solidFill>
              </a:rPr>
              <a:t>→ Avito.ma, </a:t>
            </a:r>
            <a:r>
              <a:rPr b="0" i="1" dirty="0" err="1">
                <a:solidFill>
                  <a:srgbClr val="FF0088"/>
                </a:solidFill>
              </a:rPr>
              <a:t>Kimovil</a:t>
            </a:r>
            <a:r>
              <a:rPr b="0" i="1" dirty="0">
                <a:solidFill>
                  <a:srgbClr val="FF0088"/>
                </a:solidFill>
              </a:rPr>
              <a:t>, </a:t>
            </a:r>
            <a:r>
              <a:rPr b="0" i="1" dirty="0" err="1">
                <a:solidFill>
                  <a:srgbClr val="FF0088"/>
                </a:solidFill>
              </a:rPr>
              <a:t>GSMArena</a:t>
            </a:r>
            <a:endParaRPr b="0" i="1" dirty="0">
              <a:solidFill>
                <a:srgbClr val="FF0088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2377439"/>
            <a:ext cx="105156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Imprint MT Shadow" panose="04020605060303030202" pitchFamily="82" charset="0"/>
              </a:rPr>
              <a:t>2️⃣  </a:t>
            </a:r>
            <a:r>
              <a:rPr sz="3600" b="1" i="0" dirty="0" err="1">
                <a:solidFill>
                  <a:srgbClr val="FFFFFF"/>
                </a:solidFill>
                <a:latin typeface="Imprint MT Shadow" panose="04020605060303030202" pitchFamily="82" charset="0"/>
              </a:rPr>
              <a:t>Entraîne</a:t>
            </a:r>
            <a:r>
              <a:rPr sz="3600" b="1" i="0" dirty="0">
                <a:solidFill>
                  <a:srgbClr val="FFFFFF"/>
                </a:solidFill>
                <a:latin typeface="Imprint MT Shadow" panose="04020605060303030202" pitchFamily="82" charset="0"/>
              </a:rPr>
              <a:t> des </a:t>
            </a:r>
            <a:r>
              <a:rPr sz="3600" b="1" i="0" dirty="0" err="1">
                <a:solidFill>
                  <a:srgbClr val="FFFFFF"/>
                </a:solidFill>
                <a:latin typeface="Imprint MT Shadow" panose="04020605060303030202" pitchFamily="82" charset="0"/>
              </a:rPr>
              <a:t>modèles</a:t>
            </a:r>
            <a:r>
              <a:rPr sz="3600" b="1" i="0" dirty="0">
                <a:solidFill>
                  <a:srgbClr val="FFFFFF"/>
                </a:solidFill>
                <a:latin typeface="Imprint MT Shadow" panose="04020605060303030202" pitchFamily="82" charset="0"/>
              </a:rPr>
              <a:t> ML pour </a:t>
            </a:r>
            <a:r>
              <a:rPr sz="3600" b="1" i="0" dirty="0" err="1">
                <a:solidFill>
                  <a:srgbClr val="FFFFFF"/>
                </a:solidFill>
                <a:latin typeface="Imprint MT Shadow" panose="04020605060303030202" pitchFamily="82" charset="0"/>
              </a:rPr>
              <a:t>estimer</a:t>
            </a:r>
            <a:r>
              <a:rPr sz="3600" b="1" i="0" dirty="0">
                <a:solidFill>
                  <a:srgbClr val="FFFFFF"/>
                </a:solidFill>
                <a:latin typeface="Imprint MT Shadow" panose="04020605060303030202" pitchFamily="82" charset="0"/>
              </a:rPr>
              <a:t> le prix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97742" y="2994438"/>
            <a:ext cx="98755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i="1" dirty="0">
                <a:solidFill>
                  <a:srgbClr val="FF0088"/>
                </a:solidFill>
              </a:rPr>
              <a:t>→ Random Forest &amp; </a:t>
            </a:r>
            <a:r>
              <a:rPr b="0" i="1" dirty="0" err="1">
                <a:solidFill>
                  <a:srgbClr val="FF0088"/>
                </a:solidFill>
              </a:rPr>
              <a:t>XGBoost</a:t>
            </a:r>
            <a:endParaRPr b="0" i="1" dirty="0">
              <a:solidFill>
                <a:srgbClr val="FF0088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5156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Imprint MT Shadow" panose="04020605060303030202" pitchFamily="82" charset="0"/>
              </a:rPr>
              <a:t>3️⃣  Compare prix </a:t>
            </a:r>
            <a:r>
              <a:rPr sz="3600" b="1" i="0" dirty="0" err="1">
                <a:solidFill>
                  <a:srgbClr val="FFFFFF"/>
                </a:solidFill>
                <a:latin typeface="Imprint MT Shadow" panose="04020605060303030202" pitchFamily="82" charset="0"/>
              </a:rPr>
              <a:t>déclaré</a:t>
            </a:r>
            <a:r>
              <a:rPr sz="3600" b="1" i="0" dirty="0">
                <a:solidFill>
                  <a:srgbClr val="FFFFFF"/>
                </a:solidFill>
                <a:latin typeface="Imprint MT Shadow" panose="04020605060303030202" pitchFamily="82" charset="0"/>
              </a:rPr>
              <a:t> vs prix </a:t>
            </a:r>
            <a:r>
              <a:rPr sz="3600" b="1" i="0" dirty="0" err="1">
                <a:solidFill>
                  <a:srgbClr val="FFFFFF"/>
                </a:solidFill>
                <a:latin typeface="Imprint MT Shadow" panose="04020605060303030202" pitchFamily="82" charset="0"/>
              </a:rPr>
              <a:t>estimé</a:t>
            </a:r>
            <a:endParaRPr sz="3600" b="1" i="0" dirty="0">
              <a:solidFill>
                <a:srgbClr val="FFFFFF"/>
              </a:solidFill>
              <a:latin typeface="Imprint MT Shadow" panose="04020605060303030202" pitchFamily="8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97742" y="4278238"/>
            <a:ext cx="98755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i="1" dirty="0">
                <a:solidFill>
                  <a:srgbClr val="FF0088"/>
                </a:solidFill>
              </a:rPr>
              <a:t>→ Score de </a:t>
            </a:r>
            <a:r>
              <a:rPr b="0" i="1" dirty="0" err="1">
                <a:solidFill>
                  <a:srgbClr val="FF0088"/>
                </a:solidFill>
              </a:rPr>
              <a:t>risque</a:t>
            </a:r>
            <a:r>
              <a:rPr b="0" i="1" dirty="0">
                <a:solidFill>
                  <a:srgbClr val="FF0088"/>
                </a:solidFill>
              </a:rPr>
              <a:t> </a:t>
            </a:r>
            <a:r>
              <a:rPr b="0" i="1" dirty="0" err="1">
                <a:solidFill>
                  <a:srgbClr val="FF0088"/>
                </a:solidFill>
              </a:rPr>
              <a:t>automatique</a:t>
            </a:r>
            <a:endParaRPr b="0" i="1" dirty="0">
              <a:solidFill>
                <a:srgbClr val="FF0088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4924569"/>
            <a:ext cx="105156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Imprint MT Shadow" panose="04020605060303030202" pitchFamily="82" charset="0"/>
              </a:rPr>
              <a:t>4️⃣  Génère des alertes pour les inspecteurs douaniers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7742" y="5663233"/>
            <a:ext cx="98755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i="1">
                <a:solidFill>
                  <a:srgbClr val="FF0088"/>
                </a:solidFill>
              </a:rPr>
              <a:t>→ Dashboard Power BI interactif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EF81D34-D9B0-EEDB-244A-38161D2B2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219" y="78801"/>
            <a:ext cx="1208419" cy="9074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-2026-03-29-1621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00D9FF"/>
                </a:solidFill>
              </a:rPr>
              <a:t>📱 Téléphones — Insights &amp; Observations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61162"/>
            <a:ext cx="50292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dirty="0" err="1">
                <a:solidFill>
                  <a:srgbClr val="FF66CC"/>
                </a:solidFill>
              </a:rPr>
              <a:t>Déclarations</a:t>
            </a:r>
            <a:r>
              <a:rPr sz="1800" b="1" i="0" dirty="0">
                <a:solidFill>
                  <a:srgbClr val="FF66CC"/>
                </a:solidFill>
              </a:rPr>
              <a:t> </a:t>
            </a:r>
            <a:r>
              <a:rPr sz="1800" b="1" i="0" dirty="0" err="1">
                <a:solidFill>
                  <a:srgbClr val="FF66CC"/>
                </a:solidFill>
              </a:rPr>
              <a:t>Analysées</a:t>
            </a:r>
            <a:endParaRPr sz="1800" b="1" i="0" dirty="0">
              <a:solidFill>
                <a:srgbClr val="FF66CC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118362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300 déclarations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95602"/>
            <a:ext cx="50292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66CC"/>
                </a:solidFill>
              </a:rPr>
              <a:t>Taux de Fraude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52802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4A4A"/>
                </a:solidFill>
              </a:rPr>
              <a:t>39.33% (118 fraudes détectées)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30042"/>
            <a:ext cx="50292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66CC"/>
                </a:solidFill>
              </a:rPr>
              <a:t>Écart Moyen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87241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9E1A"/>
                </a:solidFill>
              </a:rPr>
              <a:t>31.65% de sous-facturation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523511"/>
            <a:ext cx="54864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66CC"/>
                </a:solidFill>
              </a:rPr>
              <a:t>Observations Clés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072151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 dirty="0">
                <a:solidFill>
                  <a:srgbClr val="FFFFFF"/>
                </a:solidFill>
              </a:rPr>
              <a:t>• Les marques premium (Apple, Samsung) </a:t>
            </a:r>
            <a:r>
              <a:rPr sz="2000" b="0" i="0" dirty="0" err="1">
                <a:solidFill>
                  <a:srgbClr val="FFFFFF"/>
                </a:solidFill>
              </a:rPr>
              <a:t>concentrent</a:t>
            </a:r>
            <a:r>
              <a:rPr sz="2000" b="0" i="0" dirty="0">
                <a:solidFill>
                  <a:srgbClr val="FFFFFF"/>
                </a:solidFill>
              </a:rPr>
              <a:t> les plus </a:t>
            </a:r>
            <a:r>
              <a:rPr sz="2000" b="0" i="0" dirty="0" err="1">
                <a:solidFill>
                  <a:srgbClr val="FFFFFF"/>
                </a:solidFill>
              </a:rPr>
              <a:t>grandes</a:t>
            </a:r>
            <a:r>
              <a:rPr sz="2000" b="0" i="0" dirty="0">
                <a:solidFill>
                  <a:srgbClr val="FFFFFF"/>
                </a:solidFill>
              </a:rPr>
              <a:t> </a:t>
            </a:r>
            <a:r>
              <a:rPr sz="2000" b="0" i="0" dirty="0" err="1">
                <a:solidFill>
                  <a:srgbClr val="FFFFFF"/>
                </a:solidFill>
              </a:rPr>
              <a:t>fraudes</a:t>
            </a:r>
            <a:endParaRPr sz="2000" b="0" i="0" dirty="0">
              <a:solidFill>
                <a:srgbClr val="FFFF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17920" y="2986551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• Type dominant : sous-facturation vs sur-facturation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900951"/>
            <a:ext cx="54864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• 55.67% conformes, 26% à risque élevé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815351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• Scoring douanier identifie chaque cas suspect instantanément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-2026-03-29-1617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00D9FF"/>
                </a:solidFill>
              </a:rPr>
              <a:t>🚗 Véhicules — Insights &amp; Observations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72669"/>
            <a:ext cx="50292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dirty="0" err="1">
                <a:solidFill>
                  <a:srgbClr val="FF66CC"/>
                </a:solidFill>
              </a:rPr>
              <a:t>Déclarations</a:t>
            </a:r>
            <a:r>
              <a:rPr sz="1800" b="1" i="0" dirty="0">
                <a:solidFill>
                  <a:srgbClr val="FF66CC"/>
                </a:solidFill>
              </a:rPr>
              <a:t> </a:t>
            </a:r>
            <a:r>
              <a:rPr sz="1800" b="1" i="0" dirty="0" err="1">
                <a:solidFill>
                  <a:srgbClr val="FF66CC"/>
                </a:solidFill>
              </a:rPr>
              <a:t>Analysées</a:t>
            </a:r>
            <a:endParaRPr sz="1800" b="1" i="0" dirty="0">
              <a:solidFill>
                <a:srgbClr val="FF66CC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029869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5 000 </a:t>
            </a:r>
            <a:r>
              <a:rPr sz="2800" b="1" i="0" dirty="0" err="1">
                <a:solidFill>
                  <a:srgbClr val="FFFFFF"/>
                </a:solidFill>
              </a:rPr>
              <a:t>déclarations</a:t>
            </a:r>
            <a:endParaRPr sz="2800" b="1" i="0" dirty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2807109"/>
            <a:ext cx="50292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66CC"/>
                </a:solidFill>
              </a:rPr>
              <a:t>Taux de Fraude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64309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E56D"/>
                </a:solidFill>
              </a:rPr>
              <a:t>15% (750 fraudes détectées)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549"/>
            <a:ext cx="50292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66CC"/>
                </a:solidFill>
              </a:rPr>
              <a:t>Perte Fiscale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98748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9E1A"/>
                </a:solidFill>
              </a:rPr>
              <a:t>Variable clé : tax_gap_mad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17031"/>
            <a:ext cx="54864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66CC"/>
                </a:solidFill>
              </a:rPr>
              <a:t>Observations Clés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865671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 dirty="0">
                <a:solidFill>
                  <a:srgbClr val="FFFFFF"/>
                </a:solidFill>
              </a:rPr>
              <a:t>• </a:t>
            </a:r>
            <a:r>
              <a:rPr sz="2000" b="0" i="0" dirty="0" err="1">
                <a:solidFill>
                  <a:srgbClr val="FFFFFF"/>
                </a:solidFill>
              </a:rPr>
              <a:t>Véhicules</a:t>
            </a:r>
            <a:r>
              <a:rPr sz="2000" b="0" i="0" dirty="0">
                <a:solidFill>
                  <a:srgbClr val="FFFFFF"/>
                </a:solidFill>
              </a:rPr>
              <a:t> </a:t>
            </a:r>
            <a:r>
              <a:rPr sz="2000" b="0" i="0" dirty="0" err="1">
                <a:solidFill>
                  <a:srgbClr val="FFFFFF"/>
                </a:solidFill>
              </a:rPr>
              <a:t>d'origine</a:t>
            </a:r>
            <a:r>
              <a:rPr sz="2000" b="0" i="0" dirty="0">
                <a:solidFill>
                  <a:srgbClr val="FFFFFF"/>
                </a:solidFill>
              </a:rPr>
              <a:t> </a:t>
            </a:r>
            <a:r>
              <a:rPr sz="2000" b="0" i="0" dirty="0" err="1">
                <a:solidFill>
                  <a:srgbClr val="FFFFFF"/>
                </a:solidFill>
              </a:rPr>
              <a:t>européenne</a:t>
            </a:r>
            <a:r>
              <a:rPr sz="2000" b="0" i="0" dirty="0">
                <a:solidFill>
                  <a:srgbClr val="FFFFFF"/>
                </a:solidFill>
              </a:rPr>
              <a:t> = </a:t>
            </a:r>
            <a:r>
              <a:rPr sz="2000" b="0" i="0" dirty="0" err="1">
                <a:solidFill>
                  <a:srgbClr val="FFFFFF"/>
                </a:solidFill>
              </a:rPr>
              <a:t>risque</a:t>
            </a:r>
            <a:r>
              <a:rPr sz="2000" b="0" i="0" dirty="0">
                <a:solidFill>
                  <a:srgbClr val="FFFFFF"/>
                </a:solidFill>
              </a:rPr>
              <a:t> de sous-</a:t>
            </a:r>
            <a:r>
              <a:rPr sz="2000" b="0" i="0" dirty="0" err="1">
                <a:solidFill>
                  <a:srgbClr val="FFFFFF"/>
                </a:solidFill>
              </a:rPr>
              <a:t>facturation</a:t>
            </a:r>
            <a:r>
              <a:rPr sz="2000" b="0" i="0" dirty="0">
                <a:solidFill>
                  <a:srgbClr val="FFFFFF"/>
                </a:solidFill>
              </a:rPr>
              <a:t> maximal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780071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• 85% de déclarations conformes (cohérent avec simulation 85/15)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694471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• Scoring intègre : kilométrage, puissance, condition, âge, première 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608871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• Étendue maximale du dataset = validation en conditions réelles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-2026-03-29-1616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0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0088"/>
                </a:solidFill>
              </a:rPr>
              <a:t>💻 Laptops — Insights &amp; Observations (XGBoost)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67640"/>
            <a:ext cx="50292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dirty="0" err="1">
                <a:solidFill>
                  <a:srgbClr val="FF66CC"/>
                </a:solidFill>
              </a:rPr>
              <a:t>Déclarations</a:t>
            </a:r>
            <a:r>
              <a:rPr sz="1800" b="1" i="0" dirty="0">
                <a:solidFill>
                  <a:srgbClr val="FF66CC"/>
                </a:solidFill>
              </a:rPr>
              <a:t> </a:t>
            </a:r>
            <a:r>
              <a:rPr sz="1800" b="1" i="0" dirty="0" err="1">
                <a:solidFill>
                  <a:srgbClr val="FF66CC"/>
                </a:solidFill>
              </a:rPr>
              <a:t>Analysées</a:t>
            </a:r>
            <a:endParaRPr sz="1800" b="1" i="0" dirty="0">
              <a:solidFill>
                <a:srgbClr val="FF66CC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32484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300 déclarations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2080"/>
            <a:ext cx="50292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66CC"/>
                </a:solidFill>
              </a:rPr>
              <a:t>Taux de Fraude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5928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4A4A"/>
                </a:solidFill>
              </a:rPr>
              <a:t>40% (120 fraudes détectées)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36520"/>
            <a:ext cx="50292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66CC"/>
                </a:solidFill>
              </a:rPr>
              <a:t>Écart Moyen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93719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9D4EDD"/>
                </a:solidFill>
              </a:rPr>
              <a:t>-7.06% (tendance sous-facturation)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21832"/>
            <a:ext cx="54864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66CC"/>
                </a:solidFill>
              </a:rPr>
              <a:t>Observations Clés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70472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• Apple &amp; Dell concentrent les écarts les plus importants (&gt;50%)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084872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• Fraude dominante : sous-facturation des specs techniques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999272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 dirty="0">
                <a:solidFill>
                  <a:srgbClr val="FFFFFF"/>
                </a:solidFill>
              </a:rPr>
              <a:t>• </a:t>
            </a:r>
            <a:r>
              <a:rPr sz="2000" b="0" i="0" dirty="0" err="1">
                <a:solidFill>
                  <a:srgbClr val="FFFFFF"/>
                </a:solidFill>
              </a:rPr>
              <a:t>Modèle</a:t>
            </a:r>
            <a:r>
              <a:rPr sz="2000" b="0" i="0" dirty="0">
                <a:solidFill>
                  <a:srgbClr val="FFFFFF"/>
                </a:solidFill>
              </a:rPr>
              <a:t> </a:t>
            </a:r>
            <a:r>
              <a:rPr sz="2000" b="0" i="0" dirty="0" err="1">
                <a:solidFill>
                  <a:srgbClr val="FFFFFF"/>
                </a:solidFill>
              </a:rPr>
              <a:t>XGBoost</a:t>
            </a:r>
            <a:r>
              <a:rPr sz="2000" b="0" i="0" dirty="0">
                <a:solidFill>
                  <a:srgbClr val="FFFFFF"/>
                </a:solidFill>
              </a:rPr>
              <a:t> capture les interactions CPU/GPU/RAM/Storage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913672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 dirty="0">
                <a:solidFill>
                  <a:srgbClr val="FFFFFF"/>
                </a:solidFill>
              </a:rPr>
              <a:t>• 21% à </a:t>
            </a:r>
            <a:r>
              <a:rPr sz="2000" b="0" i="0" dirty="0" err="1">
                <a:solidFill>
                  <a:srgbClr val="FFFFFF"/>
                </a:solidFill>
              </a:rPr>
              <a:t>risque</a:t>
            </a:r>
            <a:r>
              <a:rPr sz="2000" b="0" i="0" dirty="0">
                <a:solidFill>
                  <a:srgbClr val="FFFFFF"/>
                </a:solidFill>
              </a:rPr>
              <a:t> </a:t>
            </a:r>
            <a:r>
              <a:rPr sz="2000" b="0" i="0" dirty="0" err="1">
                <a:solidFill>
                  <a:srgbClr val="FFFFFF"/>
                </a:solidFill>
              </a:rPr>
              <a:t>élevé</a:t>
            </a:r>
            <a:r>
              <a:rPr sz="2000" b="0" i="0" dirty="0">
                <a:solidFill>
                  <a:srgbClr val="FFFFFF"/>
                </a:solidFill>
              </a:rPr>
              <a:t> = 63 dossiers </a:t>
            </a:r>
            <a:r>
              <a:rPr sz="2000" b="0" i="0" dirty="0" err="1">
                <a:solidFill>
                  <a:srgbClr val="FFFFFF"/>
                </a:solidFill>
              </a:rPr>
              <a:t>prioritaires</a:t>
            </a:r>
            <a:r>
              <a:rPr sz="2000" b="0" i="0" dirty="0">
                <a:solidFill>
                  <a:srgbClr val="FFFFFF"/>
                </a:solidFill>
              </a:rPr>
              <a:t> pour </a:t>
            </a:r>
            <a:r>
              <a:rPr sz="2000" b="0" i="0" dirty="0" err="1">
                <a:solidFill>
                  <a:srgbClr val="FFFFFF"/>
                </a:solidFill>
              </a:rPr>
              <a:t>contrôle</a:t>
            </a:r>
            <a:endParaRPr sz="2000" b="0" i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 dirty="0">
                <a:solidFill>
                  <a:srgbClr val="00D9FF"/>
                </a:solidFill>
              </a:rPr>
              <a:t>🤖 Machine Learning </a:t>
            </a:r>
            <a:r>
              <a:rPr lang="en-US" sz="4000" b="1" i="0" dirty="0">
                <a:solidFill>
                  <a:srgbClr val="00D9FF"/>
                </a:solidFill>
              </a:rPr>
              <a:t>:</a:t>
            </a:r>
            <a:r>
              <a:rPr sz="4000" b="1" i="0" dirty="0">
                <a:solidFill>
                  <a:srgbClr val="00D9FF"/>
                </a:solidFill>
              </a:rPr>
              <a:t> Random Forest vs </a:t>
            </a:r>
            <a:r>
              <a:rPr sz="4000" b="1" i="0" dirty="0" err="1">
                <a:solidFill>
                  <a:srgbClr val="00D9FF"/>
                </a:solidFill>
              </a:rPr>
              <a:t>XGBoost</a:t>
            </a:r>
            <a:endParaRPr sz="4000" b="1" i="0" dirty="0">
              <a:solidFill>
                <a:srgbClr val="00D9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5577840" cy="5303520"/>
          </a:xfrm>
          <a:prstGeom prst="rect">
            <a:avLst/>
          </a:prstGeom>
          <a:solidFill>
            <a:srgbClr val="1A1A3E"/>
          </a:solidFill>
          <a:ln w="254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5577840" cy="50292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1090001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 dirty="0">
                <a:solidFill>
                  <a:srgbClr val="0D0E1B"/>
                </a:solidFill>
              </a:rPr>
              <a:t>🌲 Random Forest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0147"/>
            <a:ext cx="5212080" cy="415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2400" b="0" i="0" dirty="0" err="1">
                <a:solidFill>
                  <a:srgbClr val="FFFFFF"/>
                </a:solidFill>
                <a:latin typeface="Imprint MT Shadow" panose="04020605060303030202" pitchFamily="82" charset="0"/>
              </a:rPr>
              <a:t>Utilisé</a:t>
            </a:r>
            <a:r>
              <a:rPr sz="2400" b="0" i="0" dirty="0">
                <a:solidFill>
                  <a:srgbClr val="FFFFFF"/>
                </a:solidFill>
                <a:latin typeface="Imprint MT Shadow" panose="04020605060303030202" pitchFamily="82" charset="0"/>
              </a:rPr>
              <a:t> pour </a:t>
            </a:r>
            <a:r>
              <a:rPr sz="2400" b="0" i="0" dirty="0" err="1">
                <a:solidFill>
                  <a:srgbClr val="FFFFFF"/>
                </a:solidFill>
                <a:latin typeface="Imprint MT Shadow" panose="04020605060303030202" pitchFamily="82" charset="0"/>
              </a:rPr>
              <a:t>Téléphones</a:t>
            </a:r>
            <a:r>
              <a:rPr sz="2400" b="0" i="0" dirty="0">
                <a:solidFill>
                  <a:srgbClr val="FFFFFF"/>
                </a:solidFill>
                <a:latin typeface="Imprint MT Shadow" panose="04020605060303030202" pitchFamily="82" charset="0"/>
              </a:rPr>
              <a:t> &amp; Voitures</a:t>
            </a:r>
            <a:endParaRPr lang="en-US" sz="2400" b="0" i="0" dirty="0">
              <a:solidFill>
                <a:srgbClr val="FFFFFF"/>
              </a:solidFill>
              <a:latin typeface="Imprint MT Shadow" panose="040206050603030302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400" dirty="0">
              <a:solidFill>
                <a:srgbClr val="FFFFFF"/>
              </a:solidFill>
              <a:latin typeface="Imprint MT Shadow" panose="040206050603030302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FFFFFF"/>
                </a:solidFill>
                <a:latin typeface="Imprint MT Shadow" panose="04020605060303030202" pitchFamily="82" charset="0"/>
              </a:rPr>
              <a:t>Arbres indépendants entraînés sur sous-échantillons aléatoires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400" dirty="0">
              <a:solidFill>
                <a:srgbClr val="FFFFFF"/>
              </a:solidFill>
              <a:latin typeface="Imprint MT Shadow" panose="040206050603030302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FFFFFF"/>
                </a:solidFill>
                <a:latin typeface="Imprint MT Shadow" panose="04020605060303030202" pitchFamily="82" charset="0"/>
              </a:rPr>
              <a:t>Robuste aux </a:t>
            </a:r>
            <a:r>
              <a:rPr lang="fr-FR" sz="2400" dirty="0" err="1">
                <a:solidFill>
                  <a:srgbClr val="FFFFFF"/>
                </a:solidFill>
                <a:latin typeface="Imprint MT Shadow" panose="04020605060303030202" pitchFamily="82" charset="0"/>
              </a:rPr>
              <a:t>outliers</a:t>
            </a:r>
            <a:r>
              <a:rPr lang="fr-FR" sz="2400" dirty="0">
                <a:solidFill>
                  <a:srgbClr val="FFFFFF"/>
                </a:solidFill>
                <a:latin typeface="Imprint MT Shadow" panose="04020605060303030202" pitchFamily="82" charset="0"/>
              </a:rPr>
              <a:t> (prix aberrants)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400" dirty="0">
              <a:solidFill>
                <a:srgbClr val="FFFFFF"/>
              </a:solidFill>
              <a:latin typeface="Imprint MT Shadow" panose="040206050603030302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err="1">
                <a:solidFill>
                  <a:srgbClr val="FFFFFF"/>
                </a:solidFill>
                <a:latin typeface="Imprint MT Shadow" panose="04020605060303030202" pitchFamily="82" charset="0"/>
              </a:rPr>
              <a:t>Feature</a:t>
            </a:r>
            <a:r>
              <a:rPr lang="fr-FR" sz="2400" dirty="0">
                <a:solidFill>
                  <a:srgbClr val="FFFFFF"/>
                </a:solidFill>
                <a:latin typeface="Imprint MT Shadow" panose="04020605060303030202" pitchFamily="82" charset="0"/>
              </a:rPr>
              <a:t> importance interprétable pour jury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FFFF"/>
              </a:solidFill>
              <a:latin typeface="Imprint MT Shadow" panose="040206050603030302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Imprint MT Shadow" panose="04020605060303030202" pitchFamily="82" charset="0"/>
              </a:rPr>
              <a:t>Pas de </a:t>
            </a:r>
            <a:r>
              <a:rPr lang="en-US" sz="2400" dirty="0" err="1">
                <a:solidFill>
                  <a:srgbClr val="FFFFFF"/>
                </a:solidFill>
                <a:latin typeface="Imprint MT Shadow" panose="04020605060303030202" pitchFamily="82" charset="0"/>
              </a:rPr>
              <a:t>normalisation</a:t>
            </a:r>
            <a:r>
              <a:rPr lang="en-US" sz="2400" dirty="0">
                <a:solidFill>
                  <a:srgbClr val="FFFFFF"/>
                </a:solidFill>
                <a:latin typeface="Imprint MT Shadow" panose="04020605060303030202" pitchFamily="82" charset="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Imprint MT Shadow" panose="04020605060303030202" pitchFamily="82" charset="0"/>
              </a:rPr>
              <a:t>requise</a:t>
            </a:r>
            <a:endParaRPr lang="en-US" sz="2400" dirty="0">
              <a:solidFill>
                <a:srgbClr val="FFFFFF"/>
              </a:solidFill>
              <a:latin typeface="Imprint MT Shadow" panose="04020605060303030202" pitchFamily="8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30632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48920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051560"/>
            <a:ext cx="5577840" cy="5303520"/>
          </a:xfrm>
          <a:prstGeom prst="rect">
            <a:avLst/>
          </a:prstGeom>
          <a:solidFill>
            <a:srgbClr val="1A1A3E"/>
          </a:solidFill>
          <a:ln w="25400">
            <a:solidFill>
              <a:srgbClr val="FF0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051560"/>
            <a:ext cx="5577840" cy="502920"/>
          </a:xfrm>
          <a:prstGeom prst="rect">
            <a:avLst/>
          </a:prstGeom>
          <a:solidFill>
            <a:srgbClr val="FF0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0" y="109728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0D0E1B"/>
                </a:solidFill>
              </a:rPr>
              <a:t>⚡ XGBoost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877288"/>
            <a:ext cx="5212080" cy="415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Imprint MT Shadow" panose="04020605060303030202" pitchFamily="82" charset="0"/>
              </a:rPr>
              <a:t>Early stopping + Cross-validation 5-fold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400" dirty="0">
              <a:solidFill>
                <a:srgbClr val="FFFFFF"/>
              </a:solidFill>
              <a:latin typeface="Imprint MT Shadow" panose="040206050603030302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FFFFFF"/>
                </a:solidFill>
                <a:latin typeface="Imprint MT Shadow" panose="04020605060303030202" pitchFamily="82" charset="0"/>
              </a:rPr>
              <a:t>Arbres séquentiels et chaque arbre corrige l'erreur précédente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400" dirty="0">
              <a:solidFill>
                <a:srgbClr val="FFFFFF"/>
              </a:solidFill>
              <a:latin typeface="Imprint MT Shadow" panose="040206050603030302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FFFFFF"/>
                </a:solidFill>
                <a:latin typeface="Imprint MT Shadow" panose="04020605060303030202" pitchFamily="82" charset="0"/>
              </a:rPr>
              <a:t>Target en </a:t>
            </a:r>
            <a:r>
              <a:rPr lang="fr-FR" sz="2400" dirty="0" err="1">
                <a:solidFill>
                  <a:srgbClr val="FFFFFF"/>
                </a:solidFill>
                <a:latin typeface="Imprint MT Shadow" panose="04020605060303030202" pitchFamily="82" charset="0"/>
              </a:rPr>
              <a:t>log_price</a:t>
            </a:r>
            <a:r>
              <a:rPr lang="fr-FR" sz="2400" dirty="0">
                <a:solidFill>
                  <a:srgbClr val="FFFFFF"/>
                </a:solidFill>
                <a:latin typeface="Imprint MT Shadow" panose="04020605060303030202" pitchFamily="82" charset="0"/>
              </a:rPr>
              <a:t> pour gérer grande variance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400" dirty="0">
              <a:solidFill>
                <a:srgbClr val="FFFFFF"/>
              </a:solidFill>
              <a:latin typeface="Imprint MT Shadow" panose="040206050603030302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FFFFFF"/>
                </a:solidFill>
                <a:latin typeface="Imprint MT Shadow" panose="04020605060303030202" pitchFamily="82" charset="0"/>
              </a:rPr>
              <a:t>Régularisation L1/L2 (</a:t>
            </a:r>
            <a:r>
              <a:rPr lang="fr-FR" sz="2400" dirty="0" err="1">
                <a:solidFill>
                  <a:srgbClr val="FFFFFF"/>
                </a:solidFill>
                <a:latin typeface="Imprint MT Shadow" panose="04020605060303030202" pitchFamily="82" charset="0"/>
              </a:rPr>
              <a:t>features</a:t>
            </a:r>
            <a:r>
              <a:rPr lang="fr-FR" sz="2400" dirty="0">
                <a:solidFill>
                  <a:srgbClr val="FFFFFF"/>
                </a:solidFill>
                <a:latin typeface="Imprint MT Shadow" panose="04020605060303030202" pitchFamily="82" charset="0"/>
              </a:rPr>
              <a:t> corrélées)</a:t>
            </a:r>
            <a:endParaRPr lang="en-US" sz="2400" dirty="0">
              <a:solidFill>
                <a:srgbClr val="FFFFFF"/>
              </a:solidFill>
              <a:latin typeface="Imprint MT Shadow" panose="04020605060303030202" pitchFamily="82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00800" y="48920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E5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47368" y="880971"/>
            <a:ext cx="1124712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 dirty="0">
                <a:solidFill>
                  <a:srgbClr val="00E56D"/>
                </a:solidFill>
              </a:rPr>
              <a:t>⚡ Système de Scoring Douanier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414800"/>
            <a:ext cx="10332720" cy="914400"/>
          </a:xfrm>
          <a:prstGeom prst="rect">
            <a:avLst/>
          </a:prstGeom>
          <a:solidFill>
            <a:srgbClr val="1A1A3E"/>
          </a:solidFill>
          <a:ln w="25400">
            <a:solidFill>
              <a:srgbClr val="00E5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41480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00E56D"/>
                </a:solidFill>
              </a:rPr>
              <a:t>gap_pct = (declared_price − fair_value) / fair_value × 100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134466"/>
            <a:ext cx="2743200" cy="2050026"/>
          </a:xfrm>
          <a:prstGeom prst="rect">
            <a:avLst/>
          </a:prstGeom>
          <a:solidFill>
            <a:srgbClr val="1A1A3E"/>
          </a:solidFill>
          <a:ln w="38100">
            <a:solidFill>
              <a:srgbClr val="00E5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4134466"/>
            <a:ext cx="2743200" cy="640080"/>
          </a:xfrm>
          <a:prstGeom prst="rect">
            <a:avLst/>
          </a:prstGeom>
          <a:solidFill>
            <a:srgbClr val="00E5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4152754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0D0E1B"/>
                </a:solidFill>
              </a:rPr>
              <a:t>✅ Normal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865986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
                  <a:srgbClr val="00E56D"/>
                </a:solidFill>
              </a:rPr>
              <a:t>&lt; 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688946"/>
            <a:ext cx="2468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0" i="0">
                <a:solidFill>
                  <a:srgbClr val="FFFFFF"/>
                </a:solidFill>
              </a:rPr>
              <a:t>Conforme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4134466"/>
            <a:ext cx="2743200" cy="2050026"/>
          </a:xfrm>
          <a:prstGeom prst="rect">
            <a:avLst/>
          </a:prstGeom>
          <a:solidFill>
            <a:srgbClr val="1A1A3E"/>
          </a:solidFill>
          <a:ln w="38100">
            <a:solidFill>
              <a:srgbClr val="FF9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37560" y="4134466"/>
            <a:ext cx="2743200" cy="640080"/>
          </a:xfrm>
          <a:prstGeom prst="rect">
            <a:avLst/>
          </a:prstGeom>
          <a:solidFill>
            <a:srgbClr val="FF9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37560" y="4152754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0D0E1B"/>
                </a:solidFill>
              </a:rPr>
              <a:t>⚠️ Suspect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4865986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
                  <a:srgbClr val="FF9E1A"/>
                </a:solidFill>
              </a:rPr>
              <a:t>20-35%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5688946"/>
            <a:ext cx="2468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0" i="0">
                <a:solidFill>
                  <a:srgbClr val="FFFFFF"/>
                </a:solidFill>
              </a:rPr>
              <a:t>Contrôle recommandé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4134466"/>
            <a:ext cx="2743200" cy="2050026"/>
          </a:xfrm>
          <a:prstGeom prst="rect">
            <a:avLst/>
          </a:prstGeom>
          <a:solidFill>
            <a:srgbClr val="1A1A3E"/>
          </a:solidFill>
          <a:ln w="38100">
            <a:solidFill>
              <a:srgbClr val="FF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4134466"/>
            <a:ext cx="2743200" cy="640080"/>
          </a:xfrm>
          <a:prstGeom prst="rect">
            <a:avLst/>
          </a:prstGeom>
          <a:solidFill>
            <a:srgbClr val="FF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4152754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0D0E1B"/>
                </a:solidFill>
              </a:rPr>
              <a:t>🚩 Risque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865986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
                  <a:srgbClr val="FF4A4A"/>
                </a:solidFill>
              </a:rPr>
              <a:t>35-55%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5688946"/>
            <a:ext cx="2468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0" i="0">
                <a:solidFill>
                  <a:srgbClr val="FFFFFF"/>
                </a:solidFill>
              </a:rPr>
              <a:t>Prioritaire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81160" y="4134466"/>
            <a:ext cx="2743200" cy="2050026"/>
          </a:xfrm>
          <a:prstGeom prst="rect">
            <a:avLst/>
          </a:prstGeom>
          <a:solidFill>
            <a:srgbClr val="1A1A3E"/>
          </a:solidFill>
          <a:ln w="38100">
            <a:solidFill>
              <a:srgbClr val="FF0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281160" y="4134466"/>
            <a:ext cx="2743200" cy="640080"/>
          </a:xfrm>
          <a:prstGeom prst="rect">
            <a:avLst/>
          </a:prstGeom>
          <a:solidFill>
            <a:srgbClr val="FF0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81160" y="4152754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0D0E1B"/>
                </a:solidFill>
              </a:rPr>
              <a:t>🚨 Fraude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4865986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
                  <a:srgbClr val="FF0088"/>
                </a:solidFill>
              </a:rPr>
              <a:t>&gt; 55%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5688946"/>
            <a:ext cx="2468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0" i="0">
                <a:solidFill>
                  <a:srgbClr val="FFFFFF"/>
                </a:solidFill>
              </a:rPr>
              <a:t>Blocage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00D9FF"/>
                </a:solidFill>
              </a:rPr>
              <a:t>📊 Résultats &amp; Performances des Modèles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30000" cy="1371600"/>
          </a:xfrm>
          <a:prstGeom prst="rect">
            <a:avLst/>
          </a:prstGeom>
          <a:solidFill>
            <a:srgbClr val="1A1A3E"/>
          </a:solidFill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523015"/>
            <a:ext cx="22860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 dirty="0">
                <a:solidFill>
                  <a:srgbClr val="00D9FF"/>
                </a:solidFill>
              </a:rPr>
              <a:t>📱 </a:t>
            </a:r>
            <a:r>
              <a:rPr sz="2000" b="1" i="0" dirty="0">
                <a:solidFill>
                  <a:schemeClr val="accent6"/>
                </a:solidFill>
              </a:rPr>
              <a:t>TÉLÉPHONES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234439"/>
            <a:ext cx="1828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1">
                <a:solidFill>
                  <a:srgbClr val="00B050"/>
                </a:solidFill>
              </a:rPr>
              <a:t>Algo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55448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Random Forest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234439"/>
            <a:ext cx="1828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1">
                <a:solidFill>
                  <a:srgbClr val="00B050"/>
                </a:solidFill>
              </a:rPr>
              <a:t>MAE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55448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~800 MAD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234439"/>
            <a:ext cx="1828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1">
                <a:solidFill>
                  <a:srgbClr val="00B050"/>
                </a:solidFill>
              </a:rPr>
              <a:t>R²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55448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0.91+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1234439"/>
            <a:ext cx="1828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1">
                <a:solidFill>
                  <a:srgbClr val="00B050"/>
                </a:solidFill>
              </a:rPr>
              <a:t>Within ±20%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155448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~87%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43200"/>
            <a:ext cx="11430000" cy="1371600"/>
          </a:xfrm>
          <a:prstGeom prst="rect">
            <a:avLst/>
          </a:prstGeom>
          <a:solidFill>
            <a:srgbClr val="1A1A3E"/>
          </a:solidFill>
          <a:ln w="254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168935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00D9FF"/>
                </a:solidFill>
              </a:rPr>
              <a:t>🚗 VÉHICULES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880360"/>
            <a:ext cx="1828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1">
                <a:solidFill>
                  <a:srgbClr val="00B050"/>
                </a:solidFill>
              </a:rPr>
              <a:t>Algo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20040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Random Forest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880360"/>
            <a:ext cx="1828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1">
                <a:solidFill>
                  <a:srgbClr val="00B050"/>
                </a:solidFill>
              </a:rPr>
              <a:t>MAE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20040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~3,200 MAD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880360"/>
            <a:ext cx="1828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1">
                <a:solidFill>
                  <a:srgbClr val="00B050"/>
                </a:solidFill>
              </a:rPr>
              <a:t>R²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20040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0.89+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880360"/>
            <a:ext cx="1828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1">
                <a:solidFill>
                  <a:srgbClr val="00B050"/>
                </a:solidFill>
              </a:rPr>
              <a:t>Within ±20%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20040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~84%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389120"/>
            <a:ext cx="11430000" cy="1371600"/>
          </a:xfrm>
          <a:prstGeom prst="rect">
            <a:avLst/>
          </a:prstGeom>
          <a:solidFill>
            <a:srgbClr val="1A1A3E"/>
          </a:solidFill>
          <a:ln w="25400">
            <a:solidFill>
              <a:srgbClr val="FF0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4814854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FF0088"/>
                </a:solidFill>
              </a:rPr>
              <a:t>💻 LAPTOPS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526280"/>
            <a:ext cx="1828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1">
                <a:solidFill>
                  <a:srgbClr val="00B050"/>
                </a:solidFill>
              </a:rPr>
              <a:t>Algo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484632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XGBoost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526280"/>
            <a:ext cx="1828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1">
                <a:solidFill>
                  <a:srgbClr val="00B050"/>
                </a:solidFill>
              </a:rPr>
              <a:t>MAE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484632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 dirty="0">
                <a:solidFill>
                  <a:srgbClr val="FFFFFF"/>
                </a:solidFill>
              </a:rPr>
              <a:t>~1,100 MAD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4526280"/>
            <a:ext cx="1828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1">
                <a:solidFill>
                  <a:srgbClr val="00B050"/>
                </a:solidFill>
              </a:rPr>
              <a:t>R²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484632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0.93+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4526280"/>
            <a:ext cx="1828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1">
                <a:solidFill>
                  <a:srgbClr val="00B050"/>
                </a:solidFill>
              </a:rPr>
              <a:t>Within ±20%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484632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~89%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0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0088"/>
                </a:solidFill>
              </a:rPr>
              <a:t>🛠️ Stack Technologique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388" y="1795373"/>
            <a:ext cx="3657600" cy="1645920"/>
          </a:xfrm>
          <a:prstGeom prst="rect">
            <a:avLst/>
          </a:prstGeom>
          <a:solidFill>
            <a:srgbClr val="1A1A3E"/>
          </a:solidFill>
          <a:ln w="25400">
            <a:solidFill>
              <a:srgbClr val="FF0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7548" y="1886813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3348" y="2106565"/>
            <a:ext cx="27432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dirty="0">
                <a:solidFill>
                  <a:srgbClr val="FFFFFF"/>
                </a:solidFill>
              </a:rPr>
              <a:t>Python 3.12</a:t>
            </a:r>
            <a:r>
              <a:rPr lang="en-US" sz="1800" b="1" i="0" dirty="0">
                <a:solidFill>
                  <a:srgbClr val="FFFFFF"/>
                </a:solidFill>
              </a:rPr>
              <a:t>/.14</a:t>
            </a:r>
            <a:endParaRPr sz="1800" b="1" i="0" dirty="0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3348" y="2609484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 dirty="0" err="1">
                <a:solidFill>
                  <a:srgbClr val="B0B8CC"/>
                </a:solidFill>
              </a:rPr>
              <a:t>Langage</a:t>
            </a:r>
            <a:r>
              <a:rPr sz="1400" b="0" i="1" dirty="0">
                <a:solidFill>
                  <a:srgbClr val="B0B8CC"/>
                </a:solidFill>
              </a:rPr>
              <a:t> principal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0388" y="4081373"/>
            <a:ext cx="3657600" cy="1645920"/>
          </a:xfrm>
          <a:prstGeom prst="rect">
            <a:avLst/>
          </a:prstGeom>
          <a:solidFill>
            <a:srgbClr val="1A1A3E"/>
          </a:solidFill>
          <a:ln w="25400">
            <a:solidFill>
              <a:srgbClr val="FF0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07548" y="4172813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3348" y="4392565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Pandas / NumPy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3348" y="4895485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B0B8CC"/>
                </a:solidFill>
              </a:rPr>
              <a:t>ETL &amp; transformation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3748" y="1795373"/>
            <a:ext cx="3657600" cy="1645920"/>
          </a:xfrm>
          <a:prstGeom prst="rect">
            <a:avLst/>
          </a:prstGeom>
          <a:solidFill>
            <a:srgbClr val="1A1A3E"/>
          </a:solidFill>
          <a:ln w="25400">
            <a:solidFill>
              <a:srgbClr val="FF0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0908" y="1886813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6708" y="2106565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BeautifulSoup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16708" y="2609484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B0B8CC"/>
                </a:solidFill>
              </a:rPr>
              <a:t>Web scraping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3748" y="4081373"/>
            <a:ext cx="3657600" cy="1645920"/>
          </a:xfrm>
          <a:prstGeom prst="rect">
            <a:avLst/>
          </a:prstGeom>
          <a:solidFill>
            <a:srgbClr val="1A1A3E"/>
          </a:solidFill>
          <a:ln w="25400">
            <a:solidFill>
              <a:srgbClr val="FF0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30908" y="4172813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16708" y="4392565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Scikit-learn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6708" y="4895485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B0B8CC"/>
                </a:solidFill>
              </a:rPr>
              <a:t>Random Forest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17108" y="1795373"/>
            <a:ext cx="3657600" cy="1645920"/>
          </a:xfrm>
          <a:prstGeom prst="rect">
            <a:avLst/>
          </a:prstGeom>
          <a:solidFill>
            <a:srgbClr val="1A1A3E"/>
          </a:solidFill>
          <a:ln w="25400">
            <a:solidFill>
              <a:srgbClr val="FF0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54268" y="1886813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0068" y="2106565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XGBoost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0068" y="2609484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B0B8CC"/>
                </a:solidFill>
              </a:rPr>
              <a:t>Gradient Boosting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17108" y="4081373"/>
            <a:ext cx="3657600" cy="1645920"/>
          </a:xfrm>
          <a:prstGeom prst="rect">
            <a:avLst/>
          </a:prstGeom>
          <a:solidFill>
            <a:srgbClr val="1A1A3E"/>
          </a:solidFill>
          <a:ln w="25400">
            <a:solidFill>
              <a:srgbClr val="FF0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54268" y="4172813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0068" y="4392565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Power BI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0068" y="4895485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B0B8CC"/>
                </a:solidFill>
              </a:rPr>
              <a:t>Dashboard interactif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7B4583-D2CB-3FFB-2EA8-8AB89EC01468}"/>
              </a:ext>
            </a:extLst>
          </p:cNvPr>
          <p:cNvSpPr txBox="1"/>
          <p:nvPr/>
        </p:nvSpPr>
        <p:spPr>
          <a:xfrm>
            <a:off x="1221168" y="755168"/>
            <a:ext cx="6145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i="1" dirty="0">
                <a:solidFill>
                  <a:srgbClr val="B0B8CC"/>
                </a:solidFill>
              </a:rPr>
              <a:t>V</a:t>
            </a:r>
            <a:r>
              <a:rPr lang="en-US" sz="1800" b="0" i="1" dirty="0">
                <a:solidFill>
                  <a:srgbClr val="B0B8CC"/>
                </a:solidFill>
              </a:rPr>
              <a:t>oir requirements.txt pour les installer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0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00B050"/>
                </a:solidFill>
              </a:rPr>
              <a:t>🚀 Conclusion &amp; Perspectives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577840" cy="5029200"/>
          </a:xfrm>
          <a:prstGeom prst="rect">
            <a:avLst/>
          </a:prstGeom>
          <a:solidFill>
            <a:srgbClr val="1A1A3E"/>
          </a:solidFill>
          <a:ln w="25400">
            <a:solidFill>
              <a:srgbClr val="FF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521208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 b="1" i="0">
                <a:solidFill>
                  <a:srgbClr val="FF4A4A"/>
                </a:solidFill>
              </a:rPr>
              <a:t>⚠️ Limites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63185"/>
            <a:ext cx="512064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i="0" dirty="0">
                <a:solidFill>
                  <a:srgbClr val="FFFFFF"/>
                </a:solidFill>
                <a:latin typeface="Imprint MT Shadow" panose="04020605060303030202" pitchFamily="82" charset="0"/>
              </a:rPr>
              <a:t>🔴 Données </a:t>
            </a:r>
            <a:r>
              <a:rPr sz="2400" b="0" i="0" dirty="0" err="1">
                <a:solidFill>
                  <a:srgbClr val="FFFFFF"/>
                </a:solidFill>
                <a:latin typeface="Imprint MT Shadow" panose="04020605060303030202" pitchFamily="82" charset="0"/>
              </a:rPr>
              <a:t>simulées</a:t>
            </a:r>
            <a:r>
              <a:rPr sz="2400" b="0" i="0" dirty="0">
                <a:solidFill>
                  <a:srgbClr val="FFFFFF"/>
                </a:solidFill>
                <a:latin typeface="Imprint MT Shadow" panose="04020605060303030202" pitchFamily="82" charset="0"/>
              </a:rPr>
              <a:t> (pas </a:t>
            </a:r>
            <a:r>
              <a:rPr sz="2400" b="0" i="0" dirty="0" err="1">
                <a:solidFill>
                  <a:srgbClr val="FFFFFF"/>
                </a:solidFill>
                <a:latin typeface="Imprint MT Shadow" panose="04020605060303030202" pitchFamily="82" charset="0"/>
              </a:rPr>
              <a:t>d'accès</a:t>
            </a:r>
            <a:r>
              <a:rPr sz="2400" b="0" i="0" dirty="0">
                <a:solidFill>
                  <a:srgbClr val="FFFFFF"/>
                </a:solidFill>
                <a:latin typeface="Imprint MT Shadow" panose="04020605060303030202" pitchFamily="82" charset="0"/>
              </a:rPr>
              <a:t> ADII)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1207"/>
            <a:ext cx="512064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i="0" dirty="0">
                <a:solidFill>
                  <a:srgbClr val="FFFFFF"/>
                </a:solidFill>
                <a:latin typeface="Imprint MT Shadow" panose="04020605060303030202" pitchFamily="82" charset="0"/>
              </a:rPr>
              <a:t>🔴 Prix </a:t>
            </a:r>
            <a:r>
              <a:rPr sz="2400" b="0" i="0" dirty="0" err="1">
                <a:solidFill>
                  <a:srgbClr val="FFFFFF"/>
                </a:solidFill>
                <a:latin typeface="Imprint MT Shadow" panose="04020605060303030202" pitchFamily="82" charset="0"/>
              </a:rPr>
              <a:t>fluctuent</a:t>
            </a:r>
            <a:r>
              <a:rPr sz="2400" b="0" i="0" dirty="0">
                <a:solidFill>
                  <a:srgbClr val="FFFFFF"/>
                </a:solidFill>
                <a:latin typeface="Imprint MT Shadow" panose="04020605060303030202" pitchFamily="82" charset="0"/>
              </a:rPr>
              <a:t> </a:t>
            </a:r>
            <a:r>
              <a:rPr lang="en-US" sz="2400" b="0" i="0" dirty="0">
                <a:solidFill>
                  <a:srgbClr val="FFFFFF"/>
                </a:solidFill>
                <a:latin typeface="Imprint MT Shadow" panose="04020605060303030202" pitchFamily="82" charset="0"/>
              </a:rPr>
              <a:t>et</a:t>
            </a:r>
            <a:r>
              <a:rPr sz="2400" b="0" i="0" dirty="0">
                <a:solidFill>
                  <a:srgbClr val="FFFFFF"/>
                </a:solidFill>
                <a:latin typeface="Imprint MT Shadow" panose="04020605060303030202" pitchFamily="82" charset="0"/>
              </a:rPr>
              <a:t> </a:t>
            </a:r>
            <a:r>
              <a:rPr lang="en-US" sz="2400" b="0" i="0" dirty="0">
                <a:solidFill>
                  <a:srgbClr val="FFFFFF"/>
                </a:solidFill>
                <a:latin typeface="Imprint MT Shadow" panose="04020605060303030202" pitchFamily="82" charset="0"/>
              </a:rPr>
              <a:t>update</a:t>
            </a:r>
            <a:r>
              <a:rPr sz="2400" b="0" i="0" dirty="0">
                <a:solidFill>
                  <a:srgbClr val="FFFFFF"/>
                </a:solidFill>
                <a:latin typeface="Imprint MT Shadow" panose="04020605060303030202" pitchFamily="82" charset="0"/>
              </a:rPr>
              <a:t> </a:t>
            </a:r>
            <a:r>
              <a:rPr sz="2400" b="0" i="0" dirty="0" err="1">
                <a:solidFill>
                  <a:srgbClr val="FFFFFF"/>
                </a:solidFill>
                <a:latin typeface="Imprint MT Shadow" panose="04020605060303030202" pitchFamily="82" charset="0"/>
              </a:rPr>
              <a:t>requise</a:t>
            </a:r>
            <a:endParaRPr sz="2400" b="0" i="0" dirty="0">
              <a:solidFill>
                <a:srgbClr val="FFFFFF"/>
              </a:solidFill>
              <a:latin typeface="Imprint MT Shadow" panose="04020605060303030202" pitchFamily="8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4772087"/>
            <a:ext cx="512064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i="0" dirty="0">
                <a:solidFill>
                  <a:srgbClr val="FFFFFF"/>
                </a:solidFill>
                <a:latin typeface="Imprint MT Shadow" panose="04020605060303030202" pitchFamily="82" charset="0"/>
              </a:rPr>
              <a:t>🔴 Variations </a:t>
            </a:r>
            <a:r>
              <a:rPr sz="2400" b="0" i="0" dirty="0" err="1">
                <a:solidFill>
                  <a:srgbClr val="FFFFFF"/>
                </a:solidFill>
                <a:latin typeface="Imprint MT Shadow" panose="04020605060303030202" pitchFamily="82" charset="0"/>
              </a:rPr>
              <a:t>régionales</a:t>
            </a:r>
            <a:r>
              <a:rPr sz="2400" b="0" i="0" dirty="0">
                <a:solidFill>
                  <a:srgbClr val="FFFFFF"/>
                </a:solidFill>
                <a:latin typeface="Imprint MT Shadow" panose="04020605060303030202" pitchFamily="82" charset="0"/>
              </a:rPr>
              <a:t> non </a:t>
            </a:r>
            <a:r>
              <a:rPr sz="2400" b="0" i="0" dirty="0" err="1">
                <a:solidFill>
                  <a:srgbClr val="FFFFFF"/>
                </a:solidFill>
                <a:latin typeface="Imprint MT Shadow" panose="04020605060303030202" pitchFamily="82" charset="0"/>
              </a:rPr>
              <a:t>prises</a:t>
            </a:r>
            <a:r>
              <a:rPr sz="2400" b="0" i="0" dirty="0">
                <a:solidFill>
                  <a:srgbClr val="FFFFFF"/>
                </a:solidFill>
                <a:latin typeface="Imprint MT Shadow" panose="04020605060303030202" pitchFamily="82" charset="0"/>
              </a:rPr>
              <a:t> </a:t>
            </a:r>
            <a:r>
              <a:rPr sz="2400" b="0" i="0" dirty="0" err="1">
                <a:solidFill>
                  <a:srgbClr val="FFFFFF"/>
                </a:solidFill>
                <a:latin typeface="Imprint MT Shadow" panose="04020605060303030202" pitchFamily="82" charset="0"/>
              </a:rPr>
              <a:t>en</a:t>
            </a:r>
            <a:r>
              <a:rPr sz="2400" b="0" i="0" dirty="0">
                <a:solidFill>
                  <a:srgbClr val="FFFFFF"/>
                </a:solidFill>
                <a:latin typeface="Imprint MT Shadow" panose="04020605060303030202" pitchFamily="82" charset="0"/>
              </a:rPr>
              <a:t> compte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5577840" cy="5029200"/>
          </a:xfrm>
          <a:prstGeom prst="rect">
            <a:avLst/>
          </a:prstGeom>
          <a:solidFill>
            <a:srgbClr val="1A1A3E"/>
          </a:solidFill>
          <a:ln w="25400">
            <a:solidFill>
              <a:srgbClr val="00E5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234440"/>
            <a:ext cx="521208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 b="1" i="0">
                <a:solidFill>
                  <a:srgbClr val="00E56D"/>
                </a:solidFill>
              </a:rPr>
              <a:t>✨ Perspectives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63185"/>
            <a:ext cx="512064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Imprint MT Shadow" panose="04020605060303030202" pitchFamily="82" charset="0"/>
              </a:rPr>
              <a:t>🟢 API REST temps réel depuis postes douaniers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651207"/>
            <a:ext cx="512064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i="0" dirty="0">
                <a:solidFill>
                  <a:srgbClr val="FFFFFF"/>
                </a:solidFill>
                <a:latin typeface="Imprint MT Shadow" panose="04020605060303030202" pitchFamily="82" charset="0"/>
              </a:rPr>
              <a:t>🟢 Ext : </a:t>
            </a:r>
            <a:r>
              <a:rPr sz="2400" b="0" i="0" dirty="0" err="1">
                <a:solidFill>
                  <a:srgbClr val="FFFFFF"/>
                </a:solidFill>
                <a:latin typeface="Imprint MT Shadow" panose="04020605060303030202" pitchFamily="82" charset="0"/>
              </a:rPr>
              <a:t>électroménager</a:t>
            </a:r>
            <a:r>
              <a:rPr sz="2400" b="0" i="0" dirty="0">
                <a:solidFill>
                  <a:srgbClr val="FFFFFF"/>
                </a:solidFill>
                <a:latin typeface="Imprint MT Shadow" panose="04020605060303030202" pitchFamily="82" charset="0"/>
              </a:rPr>
              <a:t>, </a:t>
            </a:r>
            <a:r>
              <a:rPr sz="2400" b="0" i="0" dirty="0" err="1">
                <a:solidFill>
                  <a:srgbClr val="FFFFFF"/>
                </a:solidFill>
                <a:latin typeface="Imprint MT Shadow" panose="04020605060303030202" pitchFamily="82" charset="0"/>
              </a:rPr>
              <a:t>industrie</a:t>
            </a:r>
            <a:endParaRPr sz="2400" b="0" i="0" dirty="0">
              <a:solidFill>
                <a:srgbClr val="FFFFFF"/>
              </a:solidFill>
              <a:latin typeface="Imprint MT Shadow" panose="04020605060303030202" pitchFamily="8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0" y="4772087"/>
            <a:ext cx="512064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i="0" dirty="0">
                <a:solidFill>
                  <a:srgbClr val="FFFFFF"/>
                </a:solidFill>
                <a:latin typeface="Imprint MT Shadow" panose="04020605060303030202" pitchFamily="82" charset="0"/>
              </a:rPr>
              <a:t>🟢 </a:t>
            </a:r>
            <a:r>
              <a:rPr sz="2400" b="0" i="0" dirty="0" err="1">
                <a:solidFill>
                  <a:srgbClr val="FFFFFF"/>
                </a:solidFill>
                <a:latin typeface="Imprint MT Shadow" panose="04020605060303030202" pitchFamily="82" charset="0"/>
              </a:rPr>
              <a:t>Déploiement</a:t>
            </a:r>
            <a:r>
              <a:rPr sz="2400" b="0" i="0" dirty="0">
                <a:solidFill>
                  <a:srgbClr val="FFFFFF"/>
                </a:solidFill>
                <a:latin typeface="Imprint MT Shadow" panose="04020605060303030202" pitchFamily="82" charset="0"/>
              </a:rPr>
              <a:t> cloud Azure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F0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Merci pour votre 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560320"/>
            <a:ext cx="5760720" cy="54864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1">
                <a:solidFill>
                  <a:srgbClr val="FF0088"/>
                </a:solidFill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B0B8CC"/>
                </a:solidFill>
              </a:rPr>
              <a:t>👤 Mohammed Amine HAMOUTTI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B0B8CC"/>
                </a:solidFill>
              </a:rPr>
              <a:t>🎓 Encadré par : Yassine AMMAMI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644</Words>
  <Application>Microsoft Office PowerPoint</Application>
  <PresentationFormat>Custom</PresentationFormat>
  <Paragraphs>153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Imprint MT Shadow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Amine Hamoutti</cp:lastModifiedBy>
  <cp:revision>2</cp:revision>
  <dcterms:created xsi:type="dcterms:W3CDTF">2013-01-27T09:14:16Z</dcterms:created>
  <dcterms:modified xsi:type="dcterms:W3CDTF">2026-03-29T22:18:42Z</dcterms:modified>
  <cp:category/>
</cp:coreProperties>
</file>